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ink/ink1.xml" ContentType="application/inkml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69" r:id="rId2"/>
    <p:sldId id="262" r:id="rId3"/>
    <p:sldId id="267" r:id="rId4"/>
    <p:sldId id="263" r:id="rId5"/>
    <p:sldId id="264" r:id="rId6"/>
    <p:sldId id="270" r:id="rId7"/>
    <p:sldId id="271" r:id="rId8"/>
    <p:sldId id="272" r:id="rId9"/>
    <p:sldId id="265" r:id="rId10"/>
    <p:sldId id="266" r:id="rId11"/>
    <p:sldId id="268" r:id="rId12"/>
    <p:sldId id="275" r:id="rId13"/>
    <p:sldId id="276" r:id="rId14"/>
    <p:sldId id="277" r:id="rId1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C5B1C915-219C-4E7D-A711-4149375C9FDD}">
          <p14:sldIdLst>
            <p14:sldId id="269"/>
            <p14:sldId id="262"/>
            <p14:sldId id="267"/>
            <p14:sldId id="263"/>
            <p14:sldId id="264"/>
            <p14:sldId id="270"/>
            <p14:sldId id="271"/>
            <p14:sldId id="272"/>
            <p14:sldId id="265"/>
            <p14:sldId id="266"/>
            <p14:sldId id="268"/>
            <p14:sldId id="275"/>
            <p14:sldId id="276"/>
          </p14:sldIdLst>
        </p14:section>
        <p14:section name="未命名的章節" id="{CDD1DB7A-0509-454B-ADE0-7E3451AC292B}">
          <p14:sldIdLst>
            <p14:sldId id="27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中等深淺樣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5697" autoAdjust="0"/>
  </p:normalViewPr>
  <p:slideViewPr>
    <p:cSldViewPr snapToGrid="0">
      <p:cViewPr varScale="1">
        <p:scale>
          <a:sx n="95" d="100"/>
          <a:sy n="95" d="100"/>
        </p:scale>
        <p:origin x="119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2T13:38:24.7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2E0984-3F24-4E46-BFEB-4AD9D1079FFC}" type="datetimeFigureOut">
              <a:rPr lang="zh-TW" altLang="en-US" smtClean="0"/>
              <a:t>2025/9/17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A168CC-2E24-4FDF-B180-21F0942E16E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47751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40FA41-7107-C0C1-39A9-29F532464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8EF73FBA-BB91-0A12-D65C-C1DAD8573B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A95EA38-88DA-7A50-FCDA-51B3969D56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11D2D95-1E35-A07B-10DB-356997EA0C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A168CC-2E24-4FDF-B180-21F0942E16EC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877632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DE04BE-4DB4-A32F-6483-394A37309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DA08C1FA-07BE-845E-68BB-23B345580B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F14AE84A-168A-20BB-A149-92BD59D893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AF08126-EB46-4A21-D896-1E90A192E3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A168CC-2E24-4FDF-B180-21F0942E16EC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566019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63E99-7854-C52F-CC9C-F0DB2B70C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E827CF1D-C7FB-9581-0315-8705FA8507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219CDE97-6584-5FC9-97DB-7ABB981D87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129F588-9B8F-BFF9-B727-5F5CF3CF78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A168CC-2E24-4FDF-B180-21F0942E16EC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096673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1F4B1D-618F-CF90-6B91-5625B8A2A3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EB5D531-F4A3-401E-B460-1A2F55CAD8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88E4B9B-EE39-9E7A-ECD2-0F53D5A490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73CCE3A-CCCC-0E2D-62BE-9E96ABF52C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A168CC-2E24-4FDF-B180-21F0942E16EC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890273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4D4924-0218-87EC-2C2A-115182909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16BF51DE-BD01-B267-8D6C-E3422D9E49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D4AD0E74-FD84-9046-B0A3-8FB240DA14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BD28CA1-8E2F-1266-1182-A92E2FF07C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A168CC-2E24-4FDF-B180-21F0942E16EC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724743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DABBDA-C0DE-E5D3-4B2E-AB93D1FF0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660A2DC3-7835-8D8C-B604-C57CB4B6A9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B163A4CF-3F1A-B168-B5C5-A9F8AA2D35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D5518DB-0052-63BC-2438-494C4E8CA1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A168CC-2E24-4FDF-B180-21F0942E16EC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32940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EA310B-B701-7268-49CD-087847A70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24E2E2F8-AA54-30B9-D066-E6D1BEE32B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70E7832B-1571-AF3B-6D46-04691EDACC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已</a:t>
            </a:r>
            <a:r>
              <a:rPr lang="en-US" altLang="zh-TW" dirty="0"/>
              <a:t>“</a:t>
            </a:r>
            <a:r>
              <a:rPr lang="zh-TW" altLang="en-US" dirty="0"/>
              <a:t>確認</a:t>
            </a:r>
            <a:r>
              <a:rPr lang="en-US" altLang="zh-TW" dirty="0"/>
              <a:t>”</a:t>
            </a:r>
            <a:r>
              <a:rPr lang="zh-TW" altLang="en-US" dirty="0"/>
              <a:t>的板號</a:t>
            </a:r>
            <a:r>
              <a:rPr lang="en-US" altLang="zh-TW" dirty="0"/>
              <a:t>,</a:t>
            </a:r>
            <a:r>
              <a:rPr lang="zh-TW" altLang="en-US" dirty="0"/>
              <a:t> 沒有提供刪除功能</a:t>
            </a:r>
            <a:r>
              <a:rPr lang="en-US" altLang="zh-TW" dirty="0"/>
              <a:t>.</a:t>
            </a:r>
          </a:p>
          <a:p>
            <a:endParaRPr lang="en-US" altLang="zh-TW" dirty="0"/>
          </a:p>
          <a:p>
            <a:r>
              <a:rPr lang="zh-TW" altLang="en-US" dirty="0"/>
              <a:t>使用者若想刪除已</a:t>
            </a:r>
            <a:r>
              <a:rPr lang="en-US" altLang="zh-TW" dirty="0"/>
              <a:t>“</a:t>
            </a:r>
            <a:r>
              <a:rPr lang="zh-TW" altLang="en-US" dirty="0"/>
              <a:t>確認</a:t>
            </a:r>
            <a:r>
              <a:rPr lang="en-US" altLang="zh-TW" dirty="0"/>
              <a:t>”</a:t>
            </a:r>
            <a:r>
              <a:rPr lang="zh-TW" altLang="en-US" dirty="0"/>
              <a:t>的板號</a:t>
            </a:r>
            <a:r>
              <a:rPr lang="en-US" altLang="zh-TW" dirty="0"/>
              <a:t>,</a:t>
            </a:r>
            <a:r>
              <a:rPr lang="zh-TW" altLang="en-US" dirty="0"/>
              <a:t> 有以下方法</a:t>
            </a:r>
            <a:endParaRPr lang="en-US" altLang="zh-TW" dirty="0"/>
          </a:p>
          <a:p>
            <a:pPr marL="228600" indent="-228600">
              <a:buAutoNum type="arabicPeriod"/>
            </a:pPr>
            <a:r>
              <a:rPr lang="en-US" altLang="zh-TW" dirty="0"/>
              <a:t>“</a:t>
            </a:r>
            <a:r>
              <a:rPr lang="zh-TW" altLang="en-US" dirty="0"/>
              <a:t>歷史資料</a:t>
            </a:r>
            <a:r>
              <a:rPr lang="en-US" altLang="zh-TW" dirty="0"/>
              <a:t>”</a:t>
            </a:r>
            <a:r>
              <a:rPr lang="zh-TW" altLang="en-US" dirty="0"/>
              <a:t>頁面</a:t>
            </a:r>
            <a:r>
              <a:rPr lang="en-US" altLang="zh-TW" dirty="0"/>
              <a:t>,</a:t>
            </a:r>
            <a:r>
              <a:rPr lang="zh-TW" altLang="en-US" dirty="0"/>
              <a:t> 該筆不勾選同步</a:t>
            </a:r>
            <a:endParaRPr lang="en-US" altLang="zh-TW" dirty="0"/>
          </a:p>
          <a:p>
            <a:pPr marL="228600" indent="-228600">
              <a:buAutoNum type="arabicPeriod"/>
            </a:pPr>
            <a:r>
              <a:rPr lang="zh-TW" altLang="en-US" dirty="0"/>
              <a:t>清空板號內容物</a:t>
            </a:r>
            <a:endParaRPr lang="en-US" altLang="zh-TW" dirty="0"/>
          </a:p>
          <a:p>
            <a:pPr marL="228600" indent="-228600">
              <a:buAutoNum type="arabicPeriod"/>
            </a:pPr>
            <a:r>
              <a:rPr lang="zh-TW" altLang="en-US" dirty="0"/>
              <a:t>由</a:t>
            </a:r>
            <a:r>
              <a:rPr lang="en-US" altLang="zh-TW" dirty="0"/>
              <a:t>server</a:t>
            </a:r>
            <a:r>
              <a:rPr lang="zh-TW" altLang="en-US" dirty="0"/>
              <a:t>端刪除板號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FEE0109-9D09-185C-78AD-2BB08AA36F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A168CC-2E24-4FDF-B180-21F0942E16EC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729657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C9877-0810-3775-1E79-FB7146F22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257B748-30D4-A7ED-A2AC-89B820C560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768EDD00-F632-3D69-AEB3-9DCC8825EA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DBB6BC1-3099-596C-66B4-A80083BBE3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A168CC-2E24-4FDF-B180-21F0942E16EC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795557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93D4C1-34A8-48B4-5EAD-D3AD4FFCBC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0A7764ED-B903-1898-4392-E8D3BF73F6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DAFF000D-FDF5-C5F9-F3BD-E3482293C0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9998254-C58C-06F7-D303-0E61808EBB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A168CC-2E24-4FDF-B180-21F0942E16EC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555072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AB43F1-8A11-41BC-CB66-D9DC80E997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5CB827E-932A-2AEA-B836-C76DD30949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9857784B-FBEE-25D6-5BC4-CC4F27298F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B848412-2B01-7B73-BCF1-C2B407C78F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A168CC-2E24-4FDF-B180-21F0942E16EC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68244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1D10A-58F0-A876-0AEC-F60FA069D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72D440F4-1487-02F3-8524-F6520BC9A3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97E72891-D59E-665B-CBCE-29936D0A53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981079A-B80C-C1EF-8179-256BEFF005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A168CC-2E24-4FDF-B180-21F0942E16EC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492025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404C9D-37DB-7312-75A7-7A9B070661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92208D9F-4B80-BA2F-C0C4-2CB17C280E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DF534BB-2C86-B22F-DF9B-E75A2564E0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0693B2C-1023-8A80-9D9D-68215BE3A9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A168CC-2E24-4FDF-B180-21F0942E16EC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50025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50FE94-EB7A-3CA1-F44B-2B934F4D0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144B713E-DC20-859B-DAC2-096921CCD1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C9F3680-0092-0307-0193-CEB884BBEF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EA737B5-223D-C01E-64AC-4F0297AE69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A168CC-2E24-4FDF-B180-21F0942E16EC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8176511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B014A-AAF4-6AE3-F136-137F74F30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5720FA8-79CA-67AF-6908-DD2D65BCE1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F1446CCC-FCD9-D4EC-5811-A5319B5766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E6C84B8-9939-B58F-8966-267D10D056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A168CC-2E24-4FDF-B180-21F0942E16EC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311272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6455605-826B-301F-E5B5-9780D16D5B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D505582-E904-0D6A-5CDD-73BEA6FD11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DAACD4E-45B4-60F7-74BB-106DBA736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965FF-B464-4D89-B926-30DF8A6083FD}" type="datetimeFigureOut">
              <a:rPr lang="zh-TW" altLang="en-US" smtClean="0"/>
              <a:t>2025/9/17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C082051-3F0F-2F36-E913-7DF42E25B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576524E-E1B0-3C10-C263-D2EC76262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FF5E6-D3AB-49F3-A380-1B3E1FE629C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09136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F89E6CB-30B0-22A0-0161-E45124EAB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B07CF52-3033-4836-8C60-844633247C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DFA8458-6CA0-6091-EF68-2CBACDCD8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965FF-B464-4D89-B926-30DF8A6083FD}" type="datetimeFigureOut">
              <a:rPr lang="zh-TW" altLang="en-US" smtClean="0"/>
              <a:t>2025/9/17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78B54DB-097A-6F8E-3B2C-C8178747F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3A029B9-53C4-DEC8-4DDA-BFF689AB0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FF5E6-D3AB-49F3-A380-1B3E1FE629C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362999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6C538B0-A31F-5770-8449-D29A38168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9958A11-7D53-3D42-390A-112237F989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A4DF0B6-490A-A5D5-54E6-5D6A912B9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965FF-B464-4D89-B926-30DF8A6083FD}" type="datetimeFigureOut">
              <a:rPr lang="zh-TW" altLang="en-US" smtClean="0"/>
              <a:t>2025/9/17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AD8CE77-1CED-16D0-F403-FC3AE92AC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872B3DA-F25E-127C-6766-B0F722214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FF5E6-D3AB-49F3-A380-1B3E1FE629C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114376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5CD79CE-4BC4-9A85-F560-A6D010C50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9522896-759A-5EFE-A390-CC78021EB3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3AB96D6-7915-5F06-DF53-F5DD083FF6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FD8B309-0F76-CD82-B71E-9E41740D3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965FF-B464-4D89-B926-30DF8A6083FD}" type="datetimeFigureOut">
              <a:rPr lang="zh-TW" altLang="en-US" smtClean="0"/>
              <a:t>2025/9/17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8BD2DEB-3CD8-4B22-0326-74CFDC4EC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8CDC541-46C9-FA62-5AE8-71AD1E70D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FF5E6-D3AB-49F3-A380-1B3E1FE629C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76937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D6F8B63-0D60-2D07-EC66-8DE764FC2C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879FC4F-F27D-04ED-F0BB-31CB9B36CB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4C16060-2037-5FD1-4F41-CDC38345C0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E61B44CB-FE8C-F10E-7397-11C007931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A1FC63E0-DB99-87F2-14DF-858A7A89B1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1364B8F5-7B52-E620-2310-AE3943A59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965FF-B464-4D89-B926-30DF8A6083FD}" type="datetimeFigureOut">
              <a:rPr lang="zh-TW" altLang="en-US" smtClean="0"/>
              <a:t>2025/9/17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2B795156-8115-FAF3-9B76-9DB52BFDA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1D840213-DAA3-5155-9764-453A9CA88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FF5E6-D3AB-49F3-A380-1B3E1FE629C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381812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D24D2DE-1196-E849-D68C-CCAF63CD2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9D8CF10E-A8D9-268B-CB47-EA928F92D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965FF-B464-4D89-B926-30DF8A6083FD}" type="datetimeFigureOut">
              <a:rPr lang="zh-TW" altLang="en-US" smtClean="0"/>
              <a:t>2025/9/17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BE8A5495-C0F4-6436-2D2B-0A80B2400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37563E3-8C80-BA71-1420-EE537AD80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FF5E6-D3AB-49F3-A380-1B3E1FE629C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333761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7D6C856F-B8B6-4987-2411-7321721E1F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965FF-B464-4D89-B926-30DF8A6083FD}" type="datetimeFigureOut">
              <a:rPr lang="zh-TW" altLang="en-US" smtClean="0"/>
              <a:t>2025/9/17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99D62D0-22EE-55B5-0545-BCDB4E1CF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BE009D9-1F69-544B-6F7E-DB2EEDA21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FF5E6-D3AB-49F3-A380-1B3E1FE629C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944100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DB0F640-4F35-58D1-DD2E-093F71094A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38B4129-9B76-25AD-C7CA-98EF382536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DDF293B9-9776-63E9-208B-834A98A066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888FCF0-D423-FD30-3F43-1E6E191BF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965FF-B464-4D89-B926-30DF8A6083FD}" type="datetimeFigureOut">
              <a:rPr lang="zh-TW" altLang="en-US" smtClean="0"/>
              <a:t>2025/9/17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A4C3037-3364-E29A-EED4-62C1B8D60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D67F60A-ECC7-6625-0139-1B2D8B1D3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FF5E6-D3AB-49F3-A380-1B3E1FE629C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691925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8A053E2-CA0C-A03A-1C96-794695311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B6F78B99-CA45-F505-AC85-7C1368A336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3F7F097B-AE6C-AFB4-602A-825EDDC6B6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5800953-A317-D8C4-9130-F1AE2D791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965FF-B464-4D89-B926-30DF8A6083FD}" type="datetimeFigureOut">
              <a:rPr lang="zh-TW" altLang="en-US" smtClean="0"/>
              <a:t>2025/9/17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26EE73B-3978-4E52-6C33-54C714719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BBFFD85-47B3-D5D7-7657-BD41D5235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FF5E6-D3AB-49F3-A380-1B3E1FE629C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747201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064629C-8292-C2BA-9503-A123D13E8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133869AD-EC2F-A7B9-33B1-E2E33A5807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802A4A1-F6EE-2F98-B847-B4BCDB1F1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965FF-B464-4D89-B926-30DF8A6083FD}" type="datetimeFigureOut">
              <a:rPr lang="zh-TW" altLang="en-US" smtClean="0"/>
              <a:t>2025/9/17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6349874-E75F-001B-D61C-27EE6AA71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9C446E9-4DB1-4898-031B-DDBC1992D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FF5E6-D3AB-49F3-A380-1B3E1FE629C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671205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3DB7585D-EB2B-1AC1-C3A6-EB341E2212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45426888-7147-B60A-D5B4-26AD4F301B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9A0E4CE-53B4-5E9F-4B56-2B0339B23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965FF-B464-4D89-B926-30DF8A6083FD}" type="datetimeFigureOut">
              <a:rPr lang="zh-TW" altLang="en-US" smtClean="0"/>
              <a:t>2025/9/17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E6F4324-BD68-B648-001F-F52506C7B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4107145-8FAD-BD8F-5322-CEB7EAFFC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FF5E6-D3AB-49F3-A380-1B3E1FE629C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442729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4A77B531-A47E-7292-23B0-424A54F3A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48E2E9B-505C-0318-6CFD-F0F51438E1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9DEF7DF-F3DA-7300-2932-0EDCF31DBA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A965FF-B464-4D89-B926-30DF8A6083FD}" type="datetimeFigureOut">
              <a:rPr lang="zh-TW" altLang="en-US" smtClean="0"/>
              <a:t>2025/9/17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A1D919D-902F-C5EA-39D9-60CEFFA6E3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566885A-3ECE-83F9-A348-685B5DFAB1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6FF5E6-D3AB-49F3-A380-1B3E1FE629C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3826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customXml" Target="../ink/ink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A7290-883B-E55F-144C-73E88E291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>
            <a:extLst>
              <a:ext uri="{FF2B5EF4-FFF2-40B4-BE49-F238E27FC236}">
                <a16:creationId xmlns:a16="http://schemas.microsoft.com/office/drawing/2014/main" id="{E3E51820-3A04-9CE4-46BD-D9F63D2DFC49}"/>
              </a:ext>
            </a:extLst>
          </p:cNvPr>
          <p:cNvSpPr txBox="1"/>
          <p:nvPr/>
        </p:nvSpPr>
        <p:spPr>
          <a:xfrm>
            <a:off x="76201" y="295002"/>
            <a:ext cx="2252992" cy="649408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TW" altLang="en-US" sz="1600" dirty="0">
                <a:solidFill>
                  <a:srgbClr val="FF0000"/>
                </a:solidFill>
              </a:rPr>
              <a:t>倉庫</a:t>
            </a:r>
            <a:r>
              <a:rPr lang="en-US" altLang="zh-TW" sz="1600" dirty="0">
                <a:solidFill>
                  <a:srgbClr val="FF0000"/>
                </a:solidFill>
              </a:rPr>
              <a:t>_</a:t>
            </a:r>
            <a:r>
              <a:rPr lang="zh-TW" altLang="en-US" sz="1600" dirty="0">
                <a:solidFill>
                  <a:srgbClr val="FF0000"/>
                </a:solidFill>
              </a:rPr>
              <a:t>入庫</a:t>
            </a:r>
            <a:r>
              <a:rPr lang="en-US" altLang="zh-TW" sz="1600" dirty="0">
                <a:solidFill>
                  <a:srgbClr val="FF0000"/>
                </a:solidFill>
              </a:rPr>
              <a:t>_</a:t>
            </a:r>
            <a:r>
              <a:rPr lang="zh-TW" altLang="en-US" sz="1600" dirty="0">
                <a:solidFill>
                  <a:srgbClr val="FF0000"/>
                </a:solidFill>
              </a:rPr>
              <a:t> 秤重</a:t>
            </a:r>
            <a:endParaRPr lang="en-US" altLang="zh-TW" sz="1600" dirty="0">
              <a:solidFill>
                <a:srgbClr val="FF0000"/>
              </a:solidFill>
            </a:endParaRPr>
          </a:p>
          <a:p>
            <a:br>
              <a:rPr lang="en-US" altLang="zh-TW" sz="1600" dirty="0"/>
            </a:br>
            <a:r>
              <a:rPr lang="zh-TW" altLang="en-US" sz="1600" dirty="0"/>
              <a:t>橘框</a:t>
            </a:r>
            <a:r>
              <a:rPr lang="en-US" altLang="zh-TW" sz="1600" dirty="0"/>
              <a:t>:</a:t>
            </a:r>
            <a:r>
              <a:rPr lang="zh-TW" altLang="en-US" sz="1600" dirty="0"/>
              <a:t> 功能按鍵</a:t>
            </a:r>
            <a:r>
              <a:rPr lang="en-US" altLang="zh-TW" sz="1600" dirty="0"/>
              <a:t>,</a:t>
            </a:r>
            <a:r>
              <a:rPr lang="zh-TW" altLang="en-US" sz="1600" dirty="0"/>
              <a:t>依序為 </a:t>
            </a:r>
            <a:r>
              <a:rPr lang="zh-TW" altLang="en-US" sz="1600" dirty="0">
                <a:latin typeface="新細明體" panose="02020500000000000000" pitchFamily="18" charset="-120"/>
                <a:ea typeface="新細明體" panose="02020500000000000000" pitchFamily="18" charset="-120"/>
              </a:rPr>
              <a:t>我的、</a:t>
            </a:r>
            <a:r>
              <a:rPr lang="zh-TW" altLang="en-US" sz="1600" dirty="0">
                <a:latin typeface="新細明體" panose="02020500000000000000" pitchFamily="18" charset="-120"/>
              </a:rPr>
              <a:t>設定、品項下載</a:t>
            </a:r>
            <a:br>
              <a:rPr lang="en-US" altLang="zh-TW" sz="1600" dirty="0"/>
            </a:br>
            <a:br>
              <a:rPr lang="en-US" altLang="zh-TW" sz="1600" dirty="0"/>
            </a:br>
            <a:r>
              <a:rPr lang="zh-TW" altLang="en-US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藍框</a:t>
            </a:r>
            <a:r>
              <a:rPr lang="en-US" altLang="zh-TW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:</a:t>
            </a:r>
            <a:r>
              <a:rPr lang="zh-TW" altLang="en-US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功能按鍵</a:t>
            </a:r>
            <a:r>
              <a:rPr lang="en-US" altLang="zh-TW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,</a:t>
            </a:r>
            <a:r>
              <a:rPr lang="zh-TW" altLang="en-US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切換品項類別</a:t>
            </a:r>
            <a:r>
              <a:rPr lang="zh-TW" altLang="en-US" sz="1600" dirty="0">
                <a:solidFill>
                  <a:schemeClr val="tx2">
                    <a:lumMod val="75000"/>
                    <a:lumOff val="25000"/>
                  </a:schemeClr>
                </a:solidFill>
                <a:latin typeface="PMingLiU" panose="02020500000000000000" pitchFamily="18" charset="-120"/>
                <a:ea typeface="PMingLiU" panose="02020500000000000000" pitchFamily="18" charset="-120"/>
              </a:rPr>
              <a:t>。</a:t>
            </a:r>
            <a:br>
              <a:rPr lang="en-US" altLang="zh-TW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</a:br>
            <a:r>
              <a:rPr lang="zh-TW" altLang="en-US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其項目類別為</a:t>
            </a:r>
            <a:endParaRPr lang="en-US" altLang="zh-TW" sz="16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r>
              <a:rPr lang="zh-TW" altLang="en-US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採購</a:t>
            </a:r>
            <a:r>
              <a:rPr lang="en-US" altLang="zh-TW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(</a:t>
            </a:r>
            <a:r>
              <a:rPr lang="zh-TW" altLang="en-US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紅色</a:t>
            </a:r>
            <a:r>
              <a:rPr lang="en-US" altLang="zh-TW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)</a:t>
            </a:r>
            <a:r>
              <a:rPr lang="zh-TW" altLang="en-US" sz="1600" dirty="0">
                <a:solidFill>
                  <a:schemeClr val="tx2">
                    <a:lumMod val="75000"/>
                    <a:lumOff val="25000"/>
                  </a:schemeClr>
                </a:solidFill>
                <a:latin typeface="新細明體" panose="02020500000000000000" pitchFamily="18" charset="-120"/>
              </a:rPr>
              <a:t>、</a:t>
            </a:r>
            <a:endParaRPr lang="en-US" altLang="zh-TW" sz="1600" dirty="0">
              <a:solidFill>
                <a:schemeClr val="tx2">
                  <a:lumMod val="75000"/>
                  <a:lumOff val="25000"/>
                </a:schemeClr>
              </a:solidFill>
              <a:latin typeface="新細明體" panose="02020500000000000000" pitchFamily="18" charset="-120"/>
            </a:endParaRPr>
          </a:p>
          <a:p>
            <a:r>
              <a:rPr lang="zh-TW" altLang="en-US" sz="1600" dirty="0">
                <a:solidFill>
                  <a:schemeClr val="tx2">
                    <a:lumMod val="75000"/>
                    <a:lumOff val="25000"/>
                  </a:schemeClr>
                </a:solidFill>
                <a:latin typeface="新細明體" panose="02020500000000000000" pitchFamily="18" charset="-120"/>
              </a:rPr>
              <a:t>產製</a:t>
            </a:r>
            <a:r>
              <a:rPr lang="en-US" altLang="zh-TW" sz="1600" dirty="0">
                <a:solidFill>
                  <a:schemeClr val="tx2">
                    <a:lumMod val="75000"/>
                    <a:lumOff val="25000"/>
                  </a:schemeClr>
                </a:solidFill>
                <a:latin typeface="新細明體" panose="02020500000000000000" pitchFamily="18" charset="-120"/>
              </a:rPr>
              <a:t>(</a:t>
            </a:r>
            <a:r>
              <a:rPr lang="zh-TW" altLang="en-US" sz="1600" dirty="0">
                <a:solidFill>
                  <a:schemeClr val="tx2">
                    <a:lumMod val="75000"/>
                    <a:lumOff val="25000"/>
                  </a:schemeClr>
                </a:solidFill>
                <a:latin typeface="新細明體" panose="02020500000000000000" pitchFamily="18" charset="-120"/>
              </a:rPr>
              <a:t>藍色</a:t>
            </a:r>
            <a:r>
              <a:rPr lang="en-US" altLang="zh-TW" sz="1600" dirty="0">
                <a:solidFill>
                  <a:schemeClr val="tx2">
                    <a:lumMod val="75000"/>
                    <a:lumOff val="25000"/>
                  </a:schemeClr>
                </a:solidFill>
                <a:latin typeface="新細明體" panose="02020500000000000000" pitchFamily="18" charset="-120"/>
              </a:rPr>
              <a:t>)</a:t>
            </a:r>
            <a:r>
              <a:rPr lang="zh-TW" altLang="en-US" sz="1600" dirty="0">
                <a:solidFill>
                  <a:schemeClr val="tx2">
                    <a:lumMod val="75000"/>
                    <a:lumOff val="25000"/>
                  </a:schemeClr>
                </a:solidFill>
                <a:latin typeface="新細明體" panose="02020500000000000000" pitchFamily="18" charset="-120"/>
              </a:rPr>
              <a:t>、</a:t>
            </a:r>
            <a:endParaRPr lang="en-US" altLang="zh-TW" sz="1600" dirty="0">
              <a:solidFill>
                <a:schemeClr val="tx2">
                  <a:lumMod val="75000"/>
                  <a:lumOff val="25000"/>
                </a:schemeClr>
              </a:solidFill>
              <a:latin typeface="新細明體" panose="02020500000000000000" pitchFamily="18" charset="-120"/>
            </a:endParaRPr>
          </a:p>
          <a:p>
            <a:r>
              <a:rPr lang="zh-TW" altLang="en-US" sz="1600" dirty="0">
                <a:solidFill>
                  <a:schemeClr val="tx2">
                    <a:lumMod val="75000"/>
                    <a:lumOff val="25000"/>
                  </a:schemeClr>
                </a:solidFill>
                <a:latin typeface="新細明體" panose="02020500000000000000" pitchFamily="18" charset="-120"/>
              </a:rPr>
              <a:t>訂購</a:t>
            </a:r>
            <a:r>
              <a:rPr lang="en-US" altLang="zh-TW" sz="1600" dirty="0">
                <a:solidFill>
                  <a:schemeClr val="tx2">
                    <a:lumMod val="75000"/>
                    <a:lumOff val="25000"/>
                  </a:schemeClr>
                </a:solidFill>
                <a:latin typeface="新細明體" panose="02020500000000000000" pitchFamily="18" charset="-120"/>
              </a:rPr>
              <a:t>(</a:t>
            </a:r>
            <a:r>
              <a:rPr lang="zh-TW" altLang="en-US" sz="1600" dirty="0">
                <a:solidFill>
                  <a:schemeClr val="tx2">
                    <a:lumMod val="75000"/>
                    <a:lumOff val="25000"/>
                  </a:schemeClr>
                </a:solidFill>
                <a:latin typeface="新細明體" panose="02020500000000000000" pitchFamily="18" charset="-120"/>
              </a:rPr>
              <a:t>橘色</a:t>
            </a:r>
            <a:r>
              <a:rPr lang="en-US" altLang="zh-TW" sz="1600" dirty="0">
                <a:solidFill>
                  <a:schemeClr val="tx2">
                    <a:lumMod val="75000"/>
                    <a:lumOff val="25000"/>
                  </a:schemeClr>
                </a:solidFill>
                <a:latin typeface="新細明體" panose="02020500000000000000" pitchFamily="18" charset="-120"/>
              </a:rPr>
              <a:t>)</a:t>
            </a:r>
            <a:r>
              <a:rPr lang="zh-TW" altLang="en-US" sz="1600" dirty="0">
                <a:solidFill>
                  <a:schemeClr val="tx2">
                    <a:lumMod val="75000"/>
                    <a:lumOff val="25000"/>
                  </a:schemeClr>
                </a:solidFill>
                <a:latin typeface="新細明體" panose="02020500000000000000" pitchFamily="18" charset="-120"/>
              </a:rPr>
              <a:t>、</a:t>
            </a:r>
            <a:endParaRPr lang="en-US" altLang="zh-TW" sz="1600" dirty="0">
              <a:solidFill>
                <a:schemeClr val="tx2">
                  <a:lumMod val="75000"/>
                  <a:lumOff val="25000"/>
                </a:schemeClr>
              </a:solidFill>
              <a:latin typeface="新細明體" panose="02020500000000000000" pitchFamily="18" charset="-120"/>
            </a:endParaRPr>
          </a:p>
          <a:p>
            <a:r>
              <a:rPr lang="zh-TW" altLang="en-US" sz="1600" dirty="0">
                <a:solidFill>
                  <a:schemeClr val="tx2">
                    <a:lumMod val="75000"/>
                    <a:lumOff val="25000"/>
                  </a:schemeClr>
                </a:solidFill>
                <a:latin typeface="新細明體" panose="02020500000000000000" pitchFamily="18" charset="-120"/>
              </a:rPr>
              <a:t>其他</a:t>
            </a:r>
            <a:r>
              <a:rPr lang="en-US" altLang="zh-TW" sz="1600" dirty="0">
                <a:solidFill>
                  <a:schemeClr val="tx2">
                    <a:lumMod val="75000"/>
                    <a:lumOff val="25000"/>
                  </a:schemeClr>
                </a:solidFill>
                <a:latin typeface="新細明體" panose="02020500000000000000" pitchFamily="18" charset="-120"/>
              </a:rPr>
              <a:t>(</a:t>
            </a:r>
            <a:r>
              <a:rPr lang="zh-TW" altLang="en-US" sz="1600" dirty="0">
                <a:solidFill>
                  <a:schemeClr val="tx2">
                    <a:lumMod val="75000"/>
                    <a:lumOff val="25000"/>
                  </a:schemeClr>
                </a:solidFill>
                <a:latin typeface="新細明體" panose="02020500000000000000" pitchFamily="18" charset="-120"/>
              </a:rPr>
              <a:t>紫色</a:t>
            </a:r>
            <a:r>
              <a:rPr lang="en-US" altLang="zh-TW" sz="1600" dirty="0">
                <a:solidFill>
                  <a:schemeClr val="tx2">
                    <a:lumMod val="75000"/>
                    <a:lumOff val="25000"/>
                  </a:schemeClr>
                </a:solidFill>
                <a:latin typeface="新細明體" panose="02020500000000000000" pitchFamily="18" charset="-120"/>
              </a:rPr>
              <a:t>)</a:t>
            </a:r>
          </a:p>
          <a:p>
            <a:endParaRPr lang="en-US" altLang="zh-TW" sz="1600" dirty="0">
              <a:solidFill>
                <a:schemeClr val="tx2">
                  <a:lumMod val="75000"/>
                  <a:lumOff val="25000"/>
                </a:schemeClr>
              </a:solidFill>
              <a:latin typeface="新細明體" panose="02020500000000000000" pitchFamily="18" charset="-120"/>
            </a:endParaRPr>
          </a:p>
          <a:p>
            <a:r>
              <a:rPr lang="zh-TW" altLang="en-US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綠框</a:t>
            </a:r>
            <a:r>
              <a:rPr lang="en-US" altLang="zh-TW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:</a:t>
            </a:r>
            <a:r>
              <a:rPr lang="zh-TW" altLang="en-US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切換藍框功能按鍵</a:t>
            </a:r>
            <a:r>
              <a:rPr lang="zh-TW" altLang="en-US" sz="1600" dirty="0">
                <a:solidFill>
                  <a:schemeClr val="tx2">
                    <a:lumMod val="75000"/>
                    <a:lumOff val="25000"/>
                  </a:schemeClr>
                </a:solidFill>
                <a:latin typeface="PMingLiU" panose="02020500000000000000" pitchFamily="18" charset="-120"/>
                <a:ea typeface="PMingLiU" panose="02020500000000000000" pitchFamily="18" charset="-120"/>
              </a:rPr>
              <a:t>，更</a:t>
            </a:r>
            <a:r>
              <a:rPr lang="zh-TW" altLang="en-US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新品項列表</a:t>
            </a:r>
            <a:r>
              <a:rPr lang="zh-TW" altLang="en-US" sz="1600" dirty="0">
                <a:solidFill>
                  <a:schemeClr val="tx2">
                    <a:lumMod val="75000"/>
                    <a:lumOff val="25000"/>
                  </a:schemeClr>
                </a:solidFill>
                <a:latin typeface="PMingLiU" panose="02020500000000000000" pitchFamily="18" charset="-120"/>
                <a:ea typeface="PMingLiU" panose="02020500000000000000" pitchFamily="18" charset="-120"/>
              </a:rPr>
              <a:t>。</a:t>
            </a:r>
            <a:endParaRPr lang="en-US" altLang="zh-TW" sz="1600" dirty="0">
              <a:solidFill>
                <a:schemeClr val="tx2">
                  <a:lumMod val="75000"/>
                  <a:lumOff val="25000"/>
                </a:schemeClr>
              </a:solidFill>
              <a:latin typeface="PMingLiU" panose="02020500000000000000" pitchFamily="18" charset="-120"/>
              <a:ea typeface="PMingLiU" panose="02020500000000000000" pitchFamily="18" charset="-120"/>
            </a:endParaRPr>
          </a:p>
          <a:p>
            <a:endParaRPr lang="en-US" altLang="zh-TW" sz="1600" dirty="0"/>
          </a:p>
          <a:p>
            <a:r>
              <a:rPr lang="zh-TW" altLang="en-US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紫框</a:t>
            </a:r>
            <a:r>
              <a:rPr lang="en-US" altLang="zh-TW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:</a:t>
            </a:r>
            <a:r>
              <a:rPr lang="zh-TW" altLang="en-US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點選後</a:t>
            </a:r>
            <a:r>
              <a:rPr lang="zh-TW" altLang="en-US" sz="1600" dirty="0">
                <a:solidFill>
                  <a:schemeClr val="tx2">
                    <a:lumMod val="75000"/>
                    <a:lumOff val="25000"/>
                  </a:schemeClr>
                </a:solidFill>
                <a:latin typeface="PMingLiU" panose="02020500000000000000" pitchFamily="18" charset="-120"/>
                <a:ea typeface="PMingLiU" panose="02020500000000000000" pitchFamily="18" charset="-120"/>
              </a:rPr>
              <a:t>，顯示勾選圖式。</a:t>
            </a:r>
            <a:endParaRPr lang="en-US" altLang="zh-TW" sz="1600" dirty="0"/>
          </a:p>
          <a:p>
            <a:endParaRPr lang="en-US" altLang="zh-TW" sz="1600" dirty="0"/>
          </a:p>
          <a:p>
            <a:r>
              <a:rPr lang="zh-TW" altLang="en-US" sz="1600" dirty="0"/>
              <a:t>紅框</a:t>
            </a:r>
            <a:r>
              <a:rPr lang="en-US" altLang="zh-TW" sz="1600" dirty="0"/>
              <a:t>:</a:t>
            </a:r>
            <a:r>
              <a:rPr lang="zh-TW" altLang="en-US" sz="1600" dirty="0"/>
              <a:t> 每個欄位皆可編輯</a:t>
            </a:r>
            <a:endParaRPr lang="en-US" altLang="zh-TW" sz="1600" dirty="0"/>
          </a:p>
          <a:p>
            <a:endParaRPr lang="en-US" altLang="zh-TW" sz="16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r>
              <a:rPr lang="zh-TW" altLang="en-US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資料保存：</a:t>
            </a:r>
            <a:r>
              <a:rPr lang="en-US" altLang="zh-TW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APP</a:t>
            </a:r>
            <a:r>
              <a:rPr lang="zh-TW" altLang="en-US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隨時隨地保存使用者操作資料</a:t>
            </a:r>
            <a:r>
              <a:rPr lang="zh-TW" altLang="en-US" sz="1600" dirty="0">
                <a:solidFill>
                  <a:schemeClr val="tx2">
                    <a:lumMod val="75000"/>
                    <a:lumOff val="25000"/>
                  </a:schemeClr>
                </a:solidFill>
                <a:latin typeface="PMingLiU" panose="02020500000000000000" pitchFamily="18" charset="-120"/>
                <a:ea typeface="PMingLiU" panose="02020500000000000000" pitchFamily="18" charset="-120"/>
              </a:rPr>
              <a:t>，保</a:t>
            </a:r>
            <a:r>
              <a:rPr lang="zh-TW" altLang="en-US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存一個月的資料</a:t>
            </a:r>
            <a:r>
              <a:rPr lang="zh-TW" altLang="en-US" sz="1600" dirty="0">
                <a:solidFill>
                  <a:schemeClr val="tx2">
                    <a:lumMod val="75000"/>
                    <a:lumOff val="25000"/>
                  </a:schemeClr>
                </a:solidFill>
                <a:latin typeface="PMingLiU" panose="02020500000000000000" pitchFamily="18" charset="-120"/>
                <a:ea typeface="PMingLiU" panose="02020500000000000000" pitchFamily="18" charset="-120"/>
              </a:rPr>
              <a:t>。</a:t>
            </a:r>
            <a:br>
              <a:rPr lang="en-US" altLang="zh-TW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</a:br>
            <a:endParaRPr lang="zh-TW" altLang="en-US" sz="16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4" name="圖片 3" descr="一張含有 文字, 螢幕擷取畫面, 軟體, 電腦圖示 的圖片&#10;&#10;AI 產生的內容可能不正確。">
            <a:extLst>
              <a:ext uri="{FF2B5EF4-FFF2-40B4-BE49-F238E27FC236}">
                <a16:creationId xmlns:a16="http://schemas.microsoft.com/office/drawing/2014/main" id="{EF52FEC8-6367-53EB-17B3-0CB7031797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0697" y="-8282"/>
            <a:ext cx="9858375" cy="68580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C405893B-6AE0-4E96-6FDC-9E13F0034B1C}"/>
              </a:ext>
            </a:extLst>
          </p:cNvPr>
          <p:cNvSpPr/>
          <p:nvPr/>
        </p:nvSpPr>
        <p:spPr>
          <a:xfrm flipV="1">
            <a:off x="4484416" y="3897085"/>
            <a:ext cx="6205355" cy="2158401"/>
          </a:xfrm>
          <a:prstGeom prst="rect">
            <a:avLst/>
          </a:prstGeom>
          <a:solidFill>
            <a:schemeClr val="accent1">
              <a:alpha val="0"/>
            </a:schemeClr>
          </a:solidFill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0560DB9-862A-BC76-90B1-F8703507C684}"/>
              </a:ext>
            </a:extLst>
          </p:cNvPr>
          <p:cNvSpPr/>
          <p:nvPr/>
        </p:nvSpPr>
        <p:spPr>
          <a:xfrm flipV="1">
            <a:off x="3015873" y="846057"/>
            <a:ext cx="903514" cy="410347"/>
          </a:xfrm>
          <a:prstGeom prst="rect">
            <a:avLst/>
          </a:prstGeom>
          <a:solidFill>
            <a:schemeClr val="accent1">
              <a:alpha val="0"/>
            </a:schemeClr>
          </a:solidFill>
          <a:ln w="444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14E4FF1-45B2-E294-9933-6677EF381B5F}"/>
              </a:ext>
            </a:extLst>
          </p:cNvPr>
          <p:cNvSpPr/>
          <p:nvPr/>
        </p:nvSpPr>
        <p:spPr>
          <a:xfrm flipV="1">
            <a:off x="2536371" y="1839685"/>
            <a:ext cx="1828809" cy="4172255"/>
          </a:xfrm>
          <a:prstGeom prst="rect">
            <a:avLst/>
          </a:prstGeom>
          <a:solidFill>
            <a:schemeClr val="accent3">
              <a:lumMod val="60000"/>
              <a:lumOff val="40000"/>
              <a:alpha val="0"/>
            </a:schemeClr>
          </a:solidFill>
          <a:ln w="444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F6CE366-8427-13A3-37A6-CF3C97826FB6}"/>
              </a:ext>
            </a:extLst>
          </p:cNvPr>
          <p:cNvSpPr/>
          <p:nvPr/>
        </p:nvSpPr>
        <p:spPr>
          <a:xfrm flipV="1">
            <a:off x="2535310" y="1347542"/>
            <a:ext cx="903514" cy="416452"/>
          </a:xfrm>
          <a:prstGeom prst="rect">
            <a:avLst/>
          </a:prstGeom>
          <a:solidFill>
            <a:schemeClr val="accent1">
              <a:alpha val="0"/>
            </a:schemeClr>
          </a:solidFill>
          <a:ln w="444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01F829-467E-3156-B6C2-EFC16A72393F}"/>
              </a:ext>
            </a:extLst>
          </p:cNvPr>
          <p:cNvSpPr/>
          <p:nvPr/>
        </p:nvSpPr>
        <p:spPr>
          <a:xfrm flipV="1">
            <a:off x="3506530" y="1347542"/>
            <a:ext cx="903514" cy="401004"/>
          </a:xfrm>
          <a:prstGeom prst="rect">
            <a:avLst/>
          </a:prstGeom>
          <a:solidFill>
            <a:schemeClr val="accent1">
              <a:alpha val="0"/>
            </a:schemeClr>
          </a:solidFill>
          <a:ln w="444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2319B09-FCEA-1D95-6E25-791585AEE188}"/>
              </a:ext>
            </a:extLst>
          </p:cNvPr>
          <p:cNvSpPr/>
          <p:nvPr/>
        </p:nvSpPr>
        <p:spPr>
          <a:xfrm flipV="1">
            <a:off x="4777768" y="1968027"/>
            <a:ext cx="469146" cy="416452"/>
          </a:xfrm>
          <a:prstGeom prst="rect">
            <a:avLst/>
          </a:prstGeom>
          <a:solidFill>
            <a:schemeClr val="accent1">
              <a:alpha val="0"/>
            </a:schemeClr>
          </a:solidFill>
          <a:ln w="4445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60359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BBA284-F464-9CDD-FA88-84731465F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>
            <a:extLst>
              <a:ext uri="{FF2B5EF4-FFF2-40B4-BE49-F238E27FC236}">
                <a16:creationId xmlns:a16="http://schemas.microsoft.com/office/drawing/2014/main" id="{651BDAED-3AE2-004E-0AB6-98F0DFCB89AA}"/>
              </a:ext>
            </a:extLst>
          </p:cNvPr>
          <p:cNvSpPr txBox="1"/>
          <p:nvPr/>
        </p:nvSpPr>
        <p:spPr>
          <a:xfrm>
            <a:off x="-1" y="327660"/>
            <a:ext cx="2059441" cy="132343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TW" altLang="en-US" sz="1600" dirty="0">
                <a:solidFill>
                  <a:srgbClr val="FF0000"/>
                </a:solidFill>
              </a:rPr>
              <a:t>倉庫</a:t>
            </a:r>
            <a:r>
              <a:rPr lang="en-US" altLang="zh-TW" sz="1600" dirty="0">
                <a:solidFill>
                  <a:srgbClr val="FF0000"/>
                </a:solidFill>
              </a:rPr>
              <a:t>_</a:t>
            </a:r>
            <a:r>
              <a:rPr lang="zh-TW" altLang="en-US" sz="1600" dirty="0">
                <a:solidFill>
                  <a:srgbClr val="FF0000"/>
                </a:solidFill>
              </a:rPr>
              <a:t>入庫</a:t>
            </a:r>
            <a:r>
              <a:rPr lang="en-US" altLang="zh-TW" sz="1600" dirty="0">
                <a:solidFill>
                  <a:srgbClr val="FF0000"/>
                </a:solidFill>
              </a:rPr>
              <a:t>_</a:t>
            </a:r>
            <a:r>
              <a:rPr lang="zh-TW" altLang="en-US" sz="1600" dirty="0">
                <a:solidFill>
                  <a:srgbClr val="FF0000"/>
                </a:solidFill>
              </a:rPr>
              <a:t> 不秤重</a:t>
            </a:r>
            <a:r>
              <a:rPr lang="en-US" altLang="zh-TW" sz="1600" dirty="0">
                <a:solidFill>
                  <a:srgbClr val="FF0000"/>
                </a:solidFill>
              </a:rPr>
              <a:t>1</a:t>
            </a:r>
            <a:br>
              <a:rPr lang="en-US" altLang="zh-TW" sz="1600" dirty="0">
                <a:solidFill>
                  <a:srgbClr val="FF0000"/>
                </a:solidFill>
              </a:rPr>
            </a:br>
            <a:br>
              <a:rPr lang="en-US" altLang="zh-TW" sz="1600" dirty="0">
                <a:solidFill>
                  <a:srgbClr val="FF0000"/>
                </a:solidFill>
              </a:rPr>
            </a:br>
            <a:r>
              <a:rPr lang="zh-TW" altLang="en-US" sz="1600" dirty="0"/>
              <a:t>紅框</a:t>
            </a:r>
            <a:r>
              <a:rPr lang="en-US" altLang="zh-TW" sz="1600" dirty="0"/>
              <a:t>:</a:t>
            </a:r>
            <a:r>
              <a:rPr lang="zh-TW" altLang="en-US" sz="1600" dirty="0"/>
              <a:t> 每個欄位皆可編輯</a:t>
            </a:r>
            <a:endParaRPr lang="en-US" altLang="zh-TW" sz="1600" dirty="0"/>
          </a:p>
          <a:p>
            <a:endParaRPr lang="en-US" altLang="zh-TW" sz="1600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F95B442E-CB92-4F7D-7B08-A631118C61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211039" y="0"/>
            <a:ext cx="9858374" cy="68580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C6876D0B-AE1F-7DB9-2C0C-CAE0FE6EA82D}"/>
              </a:ext>
            </a:extLst>
          </p:cNvPr>
          <p:cNvSpPr/>
          <p:nvPr/>
        </p:nvSpPr>
        <p:spPr>
          <a:xfrm flipV="1">
            <a:off x="10593659" y="156114"/>
            <a:ext cx="1304428" cy="1738000"/>
          </a:xfrm>
          <a:prstGeom prst="rect">
            <a:avLst/>
          </a:prstGeom>
          <a:solidFill>
            <a:schemeClr val="accent1">
              <a:alpha val="0"/>
            </a:schemeClr>
          </a:solidFill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7671EF3-8FAD-94EC-B04D-B561660BE7C9}"/>
              </a:ext>
            </a:extLst>
          </p:cNvPr>
          <p:cNvSpPr/>
          <p:nvPr/>
        </p:nvSpPr>
        <p:spPr>
          <a:xfrm flipV="1">
            <a:off x="4299361" y="3897083"/>
            <a:ext cx="6294298" cy="2158401"/>
          </a:xfrm>
          <a:prstGeom prst="rect">
            <a:avLst/>
          </a:prstGeom>
          <a:solidFill>
            <a:schemeClr val="accent1">
              <a:alpha val="0"/>
            </a:schemeClr>
          </a:solidFill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25797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A7657B-6910-BA7D-AF57-D798A62F9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>
            <a:extLst>
              <a:ext uri="{FF2B5EF4-FFF2-40B4-BE49-F238E27FC236}">
                <a16:creationId xmlns:a16="http://schemas.microsoft.com/office/drawing/2014/main" id="{B474CC73-F394-39E4-3B85-D8C340E8D476}"/>
              </a:ext>
            </a:extLst>
          </p:cNvPr>
          <p:cNvSpPr txBox="1"/>
          <p:nvPr/>
        </p:nvSpPr>
        <p:spPr>
          <a:xfrm>
            <a:off x="-1" y="327660"/>
            <a:ext cx="2059441" cy="8309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TW" altLang="en-US" sz="1600" dirty="0">
                <a:solidFill>
                  <a:srgbClr val="FF0000"/>
                </a:solidFill>
              </a:rPr>
              <a:t>倉庫</a:t>
            </a:r>
            <a:r>
              <a:rPr lang="en-US" altLang="zh-TW" sz="1600" dirty="0">
                <a:solidFill>
                  <a:srgbClr val="FF0000"/>
                </a:solidFill>
              </a:rPr>
              <a:t>_</a:t>
            </a:r>
            <a:r>
              <a:rPr lang="zh-TW" altLang="en-US" sz="1600" dirty="0">
                <a:solidFill>
                  <a:srgbClr val="FF0000"/>
                </a:solidFill>
              </a:rPr>
              <a:t>入庫</a:t>
            </a:r>
            <a:r>
              <a:rPr lang="en-US" altLang="zh-TW" sz="1600" dirty="0">
                <a:solidFill>
                  <a:srgbClr val="FF0000"/>
                </a:solidFill>
              </a:rPr>
              <a:t>_</a:t>
            </a:r>
            <a:r>
              <a:rPr lang="zh-TW" altLang="en-US" sz="1600" dirty="0">
                <a:solidFill>
                  <a:srgbClr val="FF0000"/>
                </a:solidFill>
              </a:rPr>
              <a:t> 不秤重</a:t>
            </a:r>
            <a:r>
              <a:rPr lang="en-US" altLang="zh-TW" sz="1600" dirty="0">
                <a:solidFill>
                  <a:srgbClr val="FF0000"/>
                </a:solidFill>
              </a:rPr>
              <a:t>2</a:t>
            </a:r>
            <a:br>
              <a:rPr lang="en-US" altLang="zh-TW" sz="1600" dirty="0">
                <a:solidFill>
                  <a:srgbClr val="FF0000"/>
                </a:solidFill>
              </a:rPr>
            </a:br>
            <a:r>
              <a:rPr lang="zh-TW" altLang="en-US" sz="1600" dirty="0">
                <a:solidFill>
                  <a:srgbClr val="FF0000"/>
                </a:solidFill>
              </a:rPr>
              <a:t>掃標籤條碼</a:t>
            </a:r>
            <a:endParaRPr lang="en-US" altLang="zh-TW" sz="1600" dirty="0">
              <a:solidFill>
                <a:srgbClr val="FF0000"/>
              </a:solidFill>
            </a:endParaRPr>
          </a:p>
          <a:p>
            <a:endParaRPr lang="en-US" altLang="zh-TW" sz="1600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974A3113-566D-2F1E-95A1-D18261E0DB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59454" y="0"/>
            <a:ext cx="985837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14155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C05FA1-90EA-224E-523E-6CAD9AA2BB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>
            <a:extLst>
              <a:ext uri="{FF2B5EF4-FFF2-40B4-BE49-F238E27FC236}">
                <a16:creationId xmlns:a16="http://schemas.microsoft.com/office/drawing/2014/main" id="{DED1EA4A-F8DF-B23A-EF0A-9A64020BF44B}"/>
              </a:ext>
            </a:extLst>
          </p:cNvPr>
          <p:cNvSpPr txBox="1"/>
          <p:nvPr/>
        </p:nvSpPr>
        <p:spPr>
          <a:xfrm>
            <a:off x="-1" y="327660"/>
            <a:ext cx="2059441" cy="280076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TW" altLang="en-US" sz="1600" dirty="0">
                <a:solidFill>
                  <a:srgbClr val="FF0000"/>
                </a:solidFill>
              </a:rPr>
              <a:t>倉庫</a:t>
            </a:r>
            <a:r>
              <a:rPr lang="en-US" altLang="zh-TW" sz="1600" dirty="0">
                <a:solidFill>
                  <a:srgbClr val="FF0000"/>
                </a:solidFill>
              </a:rPr>
              <a:t>_</a:t>
            </a:r>
            <a:r>
              <a:rPr lang="zh-TW" altLang="en-US" sz="1600" dirty="0">
                <a:solidFill>
                  <a:srgbClr val="FF0000"/>
                </a:solidFill>
              </a:rPr>
              <a:t>出庫</a:t>
            </a:r>
            <a:br>
              <a:rPr lang="en-US" altLang="zh-TW" sz="1600" dirty="0">
                <a:solidFill>
                  <a:srgbClr val="FF0000"/>
                </a:solidFill>
              </a:rPr>
            </a:br>
            <a:r>
              <a:rPr kumimoji="0" lang="zh-TW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掃標籤條碼</a:t>
            </a:r>
            <a:endParaRPr kumimoji="0" lang="en-US" altLang="zh-TW" sz="1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  <a:p>
            <a:endParaRPr lang="en-US" altLang="zh-TW" sz="1600" dirty="0">
              <a:solidFill>
                <a:srgbClr val="FF0000"/>
              </a:solidFill>
              <a:latin typeface="Aptos" panose="02110004020202020204"/>
              <a:ea typeface="新細明體" panose="02020500000000000000" pitchFamily="18" charset="-120"/>
            </a:endParaRPr>
          </a:p>
          <a:p>
            <a:r>
              <a:rPr lang="zh-TW" altLang="en-US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紫框</a:t>
            </a:r>
            <a:r>
              <a:rPr lang="en-US" altLang="zh-TW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:</a:t>
            </a:r>
            <a:r>
              <a:rPr lang="zh-TW" altLang="en-US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標籤資訊與列表資訊不符合</a:t>
            </a:r>
            <a:r>
              <a:rPr lang="zh-TW" altLang="en-US" sz="1600" dirty="0">
                <a:solidFill>
                  <a:schemeClr val="tx2">
                    <a:lumMod val="75000"/>
                    <a:lumOff val="25000"/>
                  </a:schemeClr>
                </a:solidFill>
                <a:latin typeface="PMingLiU" panose="02020500000000000000" pitchFamily="18" charset="-120"/>
                <a:ea typeface="PMingLiU" panose="02020500000000000000" pitchFamily="18" charset="-120"/>
              </a:rPr>
              <a:t>，顯示錯誤圖式。</a:t>
            </a:r>
            <a:endParaRPr lang="en-US" altLang="zh-TW" sz="1600" dirty="0"/>
          </a:p>
          <a:p>
            <a:r>
              <a:rPr lang="zh-TW" altLang="en-US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當點選</a:t>
            </a:r>
            <a:r>
              <a:rPr lang="en-US" altLang="zh-TW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”</a:t>
            </a:r>
            <a:r>
              <a:rPr lang="zh-TW" altLang="en-US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資訊不符</a:t>
            </a:r>
            <a:r>
              <a:rPr lang="en-US" altLang="zh-TW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”</a:t>
            </a:r>
            <a:r>
              <a:rPr lang="zh-TW" altLang="en-US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的項目，則顯示勾選圖式。</a:t>
            </a:r>
            <a:br>
              <a:rPr lang="en-US" altLang="zh-TW" sz="1600" dirty="0">
                <a:solidFill>
                  <a:srgbClr val="FF0000"/>
                </a:solidFill>
              </a:rPr>
            </a:br>
            <a:br>
              <a:rPr lang="en-US" altLang="zh-TW" sz="1600" dirty="0">
                <a:solidFill>
                  <a:srgbClr val="FF0000"/>
                </a:solidFill>
              </a:rPr>
            </a:br>
            <a:endParaRPr lang="en-US" altLang="zh-TW" sz="1600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8480132A-BDC2-61CC-7F72-BA0C5D0913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90069" y="0"/>
            <a:ext cx="9858374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D15BBED8-3FB9-753D-F228-4DF29F34DB40}"/>
              </a:ext>
            </a:extLst>
          </p:cNvPr>
          <p:cNvSpPr/>
          <p:nvPr/>
        </p:nvSpPr>
        <p:spPr>
          <a:xfrm flipV="1">
            <a:off x="4713514" y="1532599"/>
            <a:ext cx="348343" cy="416452"/>
          </a:xfrm>
          <a:prstGeom prst="rect">
            <a:avLst/>
          </a:prstGeom>
          <a:solidFill>
            <a:schemeClr val="accent1">
              <a:alpha val="0"/>
            </a:schemeClr>
          </a:solidFill>
          <a:ln w="4445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308335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004404-A5F7-A1EE-80E4-0DED73B6D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>
            <a:extLst>
              <a:ext uri="{FF2B5EF4-FFF2-40B4-BE49-F238E27FC236}">
                <a16:creationId xmlns:a16="http://schemas.microsoft.com/office/drawing/2014/main" id="{B8EB548A-0D03-E25D-028F-F887C630F296}"/>
              </a:ext>
            </a:extLst>
          </p:cNvPr>
          <p:cNvSpPr txBox="1"/>
          <p:nvPr/>
        </p:nvSpPr>
        <p:spPr>
          <a:xfrm>
            <a:off x="-1" y="327660"/>
            <a:ext cx="2222721" cy="353943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TW" altLang="en-US" sz="1600" dirty="0">
                <a:solidFill>
                  <a:srgbClr val="FF0000"/>
                </a:solidFill>
              </a:rPr>
              <a:t>倉庫</a:t>
            </a:r>
            <a:r>
              <a:rPr lang="en-US" altLang="zh-TW" sz="1600" dirty="0">
                <a:solidFill>
                  <a:srgbClr val="FF0000"/>
                </a:solidFill>
              </a:rPr>
              <a:t>_</a:t>
            </a:r>
            <a:r>
              <a:rPr lang="zh-TW" altLang="en-US" sz="1600" dirty="0">
                <a:solidFill>
                  <a:srgbClr val="FF0000"/>
                </a:solidFill>
              </a:rPr>
              <a:t>成板</a:t>
            </a:r>
            <a:r>
              <a:rPr lang="en-US" altLang="zh-TW" sz="1600" dirty="0">
                <a:solidFill>
                  <a:srgbClr val="FF0000"/>
                </a:solidFill>
              </a:rPr>
              <a:t>(1/4)</a:t>
            </a:r>
            <a:br>
              <a:rPr lang="en-US" altLang="zh-TW" sz="1600" dirty="0">
                <a:solidFill>
                  <a:srgbClr val="FF0000"/>
                </a:solidFill>
              </a:rPr>
            </a:br>
            <a:endParaRPr lang="en-US" altLang="zh-TW" sz="1600" dirty="0">
              <a:solidFill>
                <a:srgbClr val="FF0000"/>
              </a:solidFill>
            </a:endParaRPr>
          </a:p>
          <a:p>
            <a:r>
              <a:rPr lang="zh-TW" altLang="en-US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初始畫面</a:t>
            </a:r>
            <a:br>
              <a:rPr lang="en-US" altLang="zh-TW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</a:br>
            <a:r>
              <a:rPr lang="zh-TW" altLang="en-US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板號由程式產生</a:t>
            </a:r>
            <a:endParaRPr lang="en-US" altLang="zh-TW" sz="16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r>
              <a:rPr lang="zh-TW" altLang="en-US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其規則為</a:t>
            </a:r>
            <a:endParaRPr lang="en-US" altLang="zh-TW" sz="16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r>
              <a:rPr lang="en-US" altLang="zh-TW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01~06:</a:t>
            </a:r>
            <a:r>
              <a:rPr lang="zh-TW" altLang="en-US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設備</a:t>
            </a:r>
            <a:r>
              <a:rPr lang="en-US" altLang="zh-TW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ID</a:t>
            </a:r>
            <a:r>
              <a:rPr lang="zh-TW" altLang="en-US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後</a:t>
            </a:r>
            <a:r>
              <a:rPr lang="en-US" altLang="zh-TW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6</a:t>
            </a:r>
            <a:r>
              <a:rPr lang="zh-TW" altLang="en-US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碼</a:t>
            </a:r>
            <a:endParaRPr lang="en-US" altLang="zh-TW" sz="16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r>
              <a:rPr lang="en-US" altLang="zh-TW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07~08: </a:t>
            </a:r>
            <a:r>
              <a:rPr lang="zh-TW" altLang="en-US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年</a:t>
            </a:r>
            <a:br>
              <a:rPr lang="en-US" altLang="zh-TW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</a:br>
            <a:r>
              <a:rPr lang="en-US" altLang="zh-TW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09~10: </a:t>
            </a:r>
            <a:r>
              <a:rPr lang="zh-TW" altLang="en-US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月</a:t>
            </a:r>
            <a:endParaRPr lang="en-US" altLang="zh-TW" sz="16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r>
              <a:rPr lang="en-US" altLang="zh-TW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11~12: </a:t>
            </a:r>
            <a:r>
              <a:rPr lang="zh-TW" altLang="en-US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日</a:t>
            </a:r>
            <a:endParaRPr lang="en-US" altLang="zh-TW" sz="16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r>
              <a:rPr lang="en-US" altLang="zh-TW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13~14: </a:t>
            </a:r>
            <a:r>
              <a:rPr lang="zh-TW" altLang="en-US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時</a:t>
            </a:r>
            <a:endParaRPr lang="en-US" altLang="zh-TW" sz="16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r>
              <a:rPr lang="en-US" altLang="zh-TW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15~16: </a:t>
            </a:r>
            <a:r>
              <a:rPr lang="zh-TW" altLang="en-US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分</a:t>
            </a:r>
            <a:endParaRPr lang="en-US" altLang="zh-TW" sz="16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r>
              <a:rPr lang="en-US" altLang="zh-TW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17~18:</a:t>
            </a:r>
            <a:r>
              <a:rPr lang="zh-TW" altLang="en-US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秒</a:t>
            </a:r>
            <a:endParaRPr lang="en-US" altLang="zh-TW" sz="16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r>
              <a:rPr lang="zh-TW" altLang="en-US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範例</a:t>
            </a:r>
            <a:r>
              <a:rPr lang="en-US" altLang="zh-TW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:</a:t>
            </a:r>
          </a:p>
          <a:p>
            <a:r>
              <a:rPr lang="en-US" altLang="zh-TW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455XE12507150743</a:t>
            </a:r>
          </a:p>
        </p:txBody>
      </p:sp>
      <p:pic>
        <p:nvPicPr>
          <p:cNvPr id="7" name="圖片 6" descr="一張含有 螢幕擷取畫面, 軟體, 多媒體軟體, 文字 的圖片&#10;&#10;AI 產生的內容可能不正確。">
            <a:extLst>
              <a:ext uri="{FF2B5EF4-FFF2-40B4-BE49-F238E27FC236}">
                <a16:creationId xmlns:a16="http://schemas.microsoft.com/office/drawing/2014/main" id="{4E5D8396-BA1D-FFF4-A5AA-A46BD5104F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2720" y="54353"/>
            <a:ext cx="98583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44231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6D11C-E895-7462-5CD1-94BFFC293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>
            <a:extLst>
              <a:ext uri="{FF2B5EF4-FFF2-40B4-BE49-F238E27FC236}">
                <a16:creationId xmlns:a16="http://schemas.microsoft.com/office/drawing/2014/main" id="{0D11BF19-EA2B-DC5A-A5D3-041C8FCE969C}"/>
              </a:ext>
            </a:extLst>
          </p:cNvPr>
          <p:cNvSpPr txBox="1"/>
          <p:nvPr/>
        </p:nvSpPr>
        <p:spPr>
          <a:xfrm>
            <a:off x="-1" y="327660"/>
            <a:ext cx="2222721" cy="427809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TW" altLang="en-US" sz="1600" dirty="0">
                <a:solidFill>
                  <a:srgbClr val="FF0000"/>
                </a:solidFill>
              </a:rPr>
              <a:t>倉庫</a:t>
            </a:r>
            <a:r>
              <a:rPr lang="en-US" altLang="zh-TW" sz="1600" dirty="0">
                <a:solidFill>
                  <a:srgbClr val="FF0000"/>
                </a:solidFill>
              </a:rPr>
              <a:t>_</a:t>
            </a:r>
            <a:r>
              <a:rPr lang="zh-TW" altLang="en-US" sz="1600" dirty="0">
                <a:solidFill>
                  <a:srgbClr val="FF0000"/>
                </a:solidFill>
              </a:rPr>
              <a:t>成板</a:t>
            </a:r>
            <a:r>
              <a:rPr lang="en-US" altLang="zh-TW" sz="1600" dirty="0">
                <a:solidFill>
                  <a:srgbClr val="FF0000"/>
                </a:solidFill>
              </a:rPr>
              <a:t>(2/4)</a:t>
            </a:r>
            <a:br>
              <a:rPr lang="en-US" altLang="zh-TW" sz="1600" dirty="0">
                <a:solidFill>
                  <a:srgbClr val="FF0000"/>
                </a:solidFill>
              </a:rPr>
            </a:br>
            <a:endParaRPr lang="en-US" altLang="zh-TW" sz="1600" dirty="0">
              <a:solidFill>
                <a:srgbClr val="FF0000"/>
              </a:solidFill>
            </a:endParaRPr>
          </a:p>
          <a:p>
            <a:r>
              <a:rPr lang="zh-TW" altLang="en-US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第一筆</a:t>
            </a:r>
            <a:r>
              <a:rPr lang="zh-TW" altLang="zh-TW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掃描標籤後，</a:t>
            </a:r>
            <a:r>
              <a:rPr lang="zh-TW" altLang="en-US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紅框欄位</a:t>
            </a:r>
            <a:r>
              <a:rPr lang="zh-TW" altLang="zh-TW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自動</a:t>
            </a:r>
            <a:r>
              <a:rPr lang="zh-TW" altLang="en-US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帶入資料</a:t>
            </a:r>
            <a:r>
              <a:rPr lang="zh-TW" altLang="zh-TW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，</a:t>
            </a:r>
            <a:r>
              <a:rPr lang="zh-TW" altLang="en-US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並產生板號</a:t>
            </a:r>
            <a:r>
              <a:rPr lang="zh-TW" altLang="zh-TW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。</a:t>
            </a:r>
            <a:endParaRPr lang="en-US" altLang="zh-TW" sz="16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endParaRPr lang="en-US" altLang="zh-TW" sz="16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r>
              <a:rPr lang="zh-TW" altLang="zh-TW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僅能加入品項名稱相同的批號</a:t>
            </a:r>
            <a:r>
              <a:rPr lang="en-US" altLang="zh-TW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/</a:t>
            </a:r>
            <a:r>
              <a:rPr lang="zh-TW" altLang="zh-TW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序號。</a:t>
            </a:r>
          </a:p>
          <a:p>
            <a:endParaRPr lang="en-US" altLang="zh-TW" sz="16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endParaRPr lang="en-US" altLang="zh-TW" sz="16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r>
              <a:rPr lang="zh-TW" altLang="en-US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紫框</a:t>
            </a:r>
            <a:r>
              <a:rPr lang="en-US" altLang="zh-TW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:</a:t>
            </a:r>
            <a:r>
              <a:rPr lang="zh-TW" altLang="en-US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按下</a:t>
            </a:r>
            <a:r>
              <a:rPr lang="en-US" altLang="zh-TW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『</a:t>
            </a:r>
            <a:r>
              <a:rPr lang="zh-TW" altLang="en-US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確認</a:t>
            </a:r>
            <a:r>
              <a:rPr lang="en-US" altLang="zh-TW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』</a:t>
            </a:r>
            <a:r>
              <a:rPr lang="zh-TW" altLang="en-US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按鍵後，即表示已確認板號及內容物，並將板號顯示於左側列表。</a:t>
            </a:r>
            <a:endParaRPr lang="en-US" altLang="zh-TW" sz="16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r>
              <a:rPr lang="zh-TW" altLang="en-US" sz="1600" dirty="0">
                <a:solidFill>
                  <a:schemeClr val="tx2">
                    <a:lumMod val="75000"/>
                    <a:lumOff val="25000"/>
                  </a:schemeClr>
                </a:solidFill>
                <a:latin typeface="PMingLiU" panose="02020500000000000000" pitchFamily="18" charset="-120"/>
                <a:ea typeface="PMingLiU" panose="02020500000000000000" pitchFamily="18" charset="-120"/>
              </a:rPr>
              <a:t>頁面跳轉，參照</a:t>
            </a:r>
            <a:r>
              <a:rPr lang="zh-TW" altLang="en-US" sz="1600" dirty="0">
                <a:solidFill>
                  <a:srgbClr val="FF0000"/>
                </a:solidFill>
              </a:rPr>
              <a:t>倉庫</a:t>
            </a:r>
            <a:r>
              <a:rPr lang="en-US" altLang="zh-TW" sz="1600" dirty="0">
                <a:solidFill>
                  <a:srgbClr val="FF0000"/>
                </a:solidFill>
              </a:rPr>
              <a:t>_</a:t>
            </a:r>
            <a:r>
              <a:rPr lang="zh-TW" altLang="en-US" sz="1600" dirty="0">
                <a:solidFill>
                  <a:srgbClr val="FF0000"/>
                </a:solidFill>
              </a:rPr>
              <a:t>成板</a:t>
            </a:r>
            <a:r>
              <a:rPr lang="en-US" altLang="zh-TW" sz="1600" dirty="0">
                <a:solidFill>
                  <a:srgbClr val="FF0000"/>
                </a:solidFill>
              </a:rPr>
              <a:t>(3/4) </a:t>
            </a:r>
            <a:r>
              <a:rPr lang="zh-TW" altLang="en-US" sz="1600" dirty="0">
                <a:solidFill>
                  <a:schemeClr val="tx2">
                    <a:lumMod val="75000"/>
                    <a:lumOff val="25000"/>
                  </a:schemeClr>
                </a:solidFill>
                <a:latin typeface="PMingLiU" panose="02020500000000000000" pitchFamily="18" charset="-120"/>
                <a:ea typeface="PMingLiU" panose="02020500000000000000" pitchFamily="18" charset="-120"/>
              </a:rPr>
              <a:t>。</a:t>
            </a:r>
            <a:endParaRPr lang="en-US" altLang="zh-TW" sz="1600" dirty="0"/>
          </a:p>
          <a:p>
            <a:endParaRPr lang="en-US" altLang="zh-TW" sz="16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3" name="圖片 2" descr="一張含有 文字, 螢幕擷取畫面, 軟體, 電腦圖示 的圖片&#10;&#10;AI 產生的內容可能不正確。">
            <a:extLst>
              <a:ext uri="{FF2B5EF4-FFF2-40B4-BE49-F238E27FC236}">
                <a16:creationId xmlns:a16="http://schemas.microsoft.com/office/drawing/2014/main" id="{19214A6A-920B-BA0F-DAB9-8F469A5DCB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2720" y="0"/>
            <a:ext cx="9858375" cy="685800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670F00AD-1522-3786-D243-5EC2B4636E3A}"/>
              </a:ext>
            </a:extLst>
          </p:cNvPr>
          <p:cNvSpPr/>
          <p:nvPr/>
        </p:nvSpPr>
        <p:spPr>
          <a:xfrm flipV="1">
            <a:off x="4321130" y="3875314"/>
            <a:ext cx="6205355" cy="2158401"/>
          </a:xfrm>
          <a:prstGeom prst="rect">
            <a:avLst/>
          </a:prstGeom>
          <a:solidFill>
            <a:schemeClr val="accent1">
              <a:alpha val="0"/>
            </a:schemeClr>
          </a:solidFill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7F70C5D-2DDB-54CE-9BE8-A9BE7FD78C17}"/>
              </a:ext>
            </a:extLst>
          </p:cNvPr>
          <p:cNvSpPr/>
          <p:nvPr/>
        </p:nvSpPr>
        <p:spPr>
          <a:xfrm flipV="1">
            <a:off x="7945511" y="3264316"/>
            <a:ext cx="773946" cy="416452"/>
          </a:xfrm>
          <a:prstGeom prst="rect">
            <a:avLst/>
          </a:prstGeom>
          <a:solidFill>
            <a:schemeClr val="accent1">
              <a:alpha val="0"/>
            </a:schemeClr>
          </a:solidFill>
          <a:ln w="4445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筆跡 1">
                <a:extLst>
                  <a:ext uri="{FF2B5EF4-FFF2-40B4-BE49-F238E27FC236}">
                    <a16:creationId xmlns:a16="http://schemas.microsoft.com/office/drawing/2014/main" id="{D4AA8959-43D0-7F62-0C58-F7422760067C}"/>
                  </a:ext>
                </a:extLst>
              </p14:cNvPr>
              <p14:cNvContentPartPr/>
              <p14:nvPr/>
            </p14:nvContentPartPr>
            <p14:xfrm>
              <a:off x="-392160" y="1904640"/>
              <a:ext cx="360" cy="360"/>
            </p14:xfrm>
          </p:contentPart>
        </mc:Choice>
        <mc:Fallback xmlns="">
          <p:pic>
            <p:nvPicPr>
              <p:cNvPr id="2" name="筆跡 1">
                <a:extLst>
                  <a:ext uri="{FF2B5EF4-FFF2-40B4-BE49-F238E27FC236}">
                    <a16:creationId xmlns:a16="http://schemas.microsoft.com/office/drawing/2014/main" id="{D4AA8959-43D0-7F62-0C58-F7422760067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398280" y="1898520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012104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28774-C172-EE78-C347-493C24B35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>
            <a:extLst>
              <a:ext uri="{FF2B5EF4-FFF2-40B4-BE49-F238E27FC236}">
                <a16:creationId xmlns:a16="http://schemas.microsoft.com/office/drawing/2014/main" id="{AC3B86BF-0D97-877D-51EE-F4075B449033}"/>
              </a:ext>
            </a:extLst>
          </p:cNvPr>
          <p:cNvSpPr txBox="1"/>
          <p:nvPr/>
        </p:nvSpPr>
        <p:spPr>
          <a:xfrm>
            <a:off x="-1" y="327660"/>
            <a:ext cx="2222721" cy="132343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TW" altLang="en-US" sz="1600" dirty="0">
                <a:solidFill>
                  <a:srgbClr val="FF0000"/>
                </a:solidFill>
              </a:rPr>
              <a:t>倉庫</a:t>
            </a:r>
            <a:r>
              <a:rPr lang="en-US" altLang="zh-TW" sz="1600" dirty="0">
                <a:solidFill>
                  <a:srgbClr val="FF0000"/>
                </a:solidFill>
              </a:rPr>
              <a:t>_</a:t>
            </a:r>
            <a:r>
              <a:rPr lang="zh-TW" altLang="en-US" sz="1600" dirty="0">
                <a:solidFill>
                  <a:srgbClr val="FF0000"/>
                </a:solidFill>
              </a:rPr>
              <a:t>成板</a:t>
            </a:r>
            <a:r>
              <a:rPr lang="en-US" altLang="zh-TW" sz="1600" dirty="0">
                <a:solidFill>
                  <a:srgbClr val="FF0000"/>
                </a:solidFill>
              </a:rPr>
              <a:t>(3/4)</a:t>
            </a:r>
            <a:br>
              <a:rPr lang="en-US" altLang="zh-TW" sz="1600" dirty="0">
                <a:solidFill>
                  <a:srgbClr val="FF0000"/>
                </a:solidFill>
              </a:rPr>
            </a:br>
            <a:endParaRPr lang="en-US" altLang="zh-TW" sz="1600" dirty="0">
              <a:solidFill>
                <a:srgbClr val="FF0000"/>
              </a:solidFill>
            </a:endParaRPr>
          </a:p>
          <a:p>
            <a:r>
              <a:rPr lang="zh-TW" altLang="en-US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已</a:t>
            </a:r>
            <a:r>
              <a:rPr lang="en-US" altLang="zh-TW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”</a:t>
            </a:r>
            <a:r>
              <a:rPr lang="zh-TW" altLang="en-US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確認</a:t>
            </a:r>
            <a:r>
              <a:rPr lang="en-US" altLang="zh-TW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”</a:t>
            </a:r>
            <a:r>
              <a:rPr lang="zh-TW" altLang="en-US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之板號顯示於列表。</a:t>
            </a:r>
            <a:endParaRPr lang="en-US" altLang="zh-TW" sz="16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endParaRPr lang="en-US" altLang="zh-TW" sz="16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3" name="圖片 2" descr="一張含有 螢幕擷取畫面, 軟體, 多媒體軟體, 文字 的圖片&#10;&#10;AI 產生的內容可能不正確。">
            <a:extLst>
              <a:ext uri="{FF2B5EF4-FFF2-40B4-BE49-F238E27FC236}">
                <a16:creationId xmlns:a16="http://schemas.microsoft.com/office/drawing/2014/main" id="{9D7E30D2-EC24-1719-49CD-E6EBBBC591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3625" y="54353"/>
            <a:ext cx="9858375" cy="685800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CF15F904-DA8E-EDC4-7D68-0EB30D23471E}"/>
              </a:ext>
            </a:extLst>
          </p:cNvPr>
          <p:cNvSpPr/>
          <p:nvPr/>
        </p:nvSpPr>
        <p:spPr>
          <a:xfrm flipV="1">
            <a:off x="2536371" y="1447800"/>
            <a:ext cx="1959429" cy="4564140"/>
          </a:xfrm>
          <a:prstGeom prst="rect">
            <a:avLst/>
          </a:prstGeom>
          <a:solidFill>
            <a:schemeClr val="accent3">
              <a:lumMod val="60000"/>
              <a:lumOff val="40000"/>
              <a:alpha val="0"/>
            </a:schemeClr>
          </a:solidFill>
          <a:ln w="444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308766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17249-D0A9-A8E1-0DE4-B322FC4E20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>
            <a:extLst>
              <a:ext uri="{FF2B5EF4-FFF2-40B4-BE49-F238E27FC236}">
                <a16:creationId xmlns:a16="http://schemas.microsoft.com/office/drawing/2014/main" id="{364B71C1-3F74-A56F-4DDC-5FA2E3B4686A}"/>
              </a:ext>
            </a:extLst>
          </p:cNvPr>
          <p:cNvSpPr txBox="1"/>
          <p:nvPr/>
        </p:nvSpPr>
        <p:spPr>
          <a:xfrm>
            <a:off x="-1" y="327660"/>
            <a:ext cx="2222721" cy="132343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TW" altLang="en-US" sz="1600" dirty="0">
                <a:solidFill>
                  <a:srgbClr val="FF0000"/>
                </a:solidFill>
              </a:rPr>
              <a:t>倉庫</a:t>
            </a:r>
            <a:r>
              <a:rPr lang="en-US" altLang="zh-TW" sz="1600" dirty="0">
                <a:solidFill>
                  <a:srgbClr val="FF0000"/>
                </a:solidFill>
              </a:rPr>
              <a:t>_</a:t>
            </a:r>
            <a:r>
              <a:rPr lang="zh-TW" altLang="en-US" sz="1600" dirty="0">
                <a:solidFill>
                  <a:srgbClr val="FF0000"/>
                </a:solidFill>
              </a:rPr>
              <a:t>成板</a:t>
            </a:r>
            <a:r>
              <a:rPr lang="en-US" altLang="zh-TW" sz="1600" dirty="0">
                <a:solidFill>
                  <a:srgbClr val="FF0000"/>
                </a:solidFill>
              </a:rPr>
              <a:t>(4/4)</a:t>
            </a:r>
            <a:br>
              <a:rPr lang="en-US" altLang="zh-TW" sz="1600" dirty="0">
                <a:solidFill>
                  <a:srgbClr val="FF0000"/>
                </a:solidFill>
              </a:rPr>
            </a:br>
            <a:endParaRPr lang="en-US" altLang="zh-TW" sz="1600" dirty="0">
              <a:solidFill>
                <a:srgbClr val="FF0000"/>
              </a:solidFill>
            </a:endParaRPr>
          </a:p>
          <a:p>
            <a:r>
              <a:rPr lang="zh-TW" altLang="en-US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可點選已</a:t>
            </a:r>
            <a:r>
              <a:rPr lang="en-US" altLang="zh-TW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”</a:t>
            </a:r>
            <a:r>
              <a:rPr lang="zh-TW" altLang="en-US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確認</a:t>
            </a:r>
            <a:r>
              <a:rPr lang="en-US" altLang="zh-TW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”</a:t>
            </a:r>
            <a:r>
              <a:rPr lang="zh-TW" altLang="en-US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的板號</a:t>
            </a:r>
            <a:r>
              <a:rPr lang="zh-TW" altLang="zh-TW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，</a:t>
            </a:r>
            <a:r>
              <a:rPr lang="zh-TW" altLang="en-US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進行內容物的掃描新增與刪除。</a:t>
            </a:r>
            <a:endParaRPr lang="en-US" altLang="zh-TW" sz="16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3" name="圖片 2" descr="一張含有 文字, 螢幕擷取畫面, 軟體, 電腦圖示 的圖片&#10;&#10;AI 產生的內容可能不正確。">
            <a:extLst>
              <a:ext uri="{FF2B5EF4-FFF2-40B4-BE49-F238E27FC236}">
                <a16:creationId xmlns:a16="http://schemas.microsoft.com/office/drawing/2014/main" id="{8C1883E6-2438-34F4-C230-881E196CA6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8932" y="0"/>
            <a:ext cx="98583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36695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ED72DD-A5DE-1247-1074-5868842BE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>
            <a:extLst>
              <a:ext uri="{FF2B5EF4-FFF2-40B4-BE49-F238E27FC236}">
                <a16:creationId xmlns:a16="http://schemas.microsoft.com/office/drawing/2014/main" id="{5301546A-6081-E042-5F44-BFB56B5A54AC}"/>
              </a:ext>
            </a:extLst>
          </p:cNvPr>
          <p:cNvSpPr txBox="1"/>
          <p:nvPr/>
        </p:nvSpPr>
        <p:spPr>
          <a:xfrm>
            <a:off x="-1" y="327660"/>
            <a:ext cx="2059441" cy="30469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TW" altLang="en-US" sz="1600" dirty="0">
                <a:solidFill>
                  <a:srgbClr val="FF0000"/>
                </a:solidFill>
              </a:rPr>
              <a:t>產間</a:t>
            </a:r>
            <a:r>
              <a:rPr lang="en-US" altLang="zh-TW" sz="1600" dirty="0">
                <a:solidFill>
                  <a:srgbClr val="FF0000"/>
                </a:solidFill>
              </a:rPr>
              <a:t>_</a:t>
            </a:r>
            <a:r>
              <a:rPr lang="zh-TW" altLang="en-US" sz="1600" dirty="0">
                <a:solidFill>
                  <a:srgbClr val="FF0000"/>
                </a:solidFill>
              </a:rPr>
              <a:t>入產</a:t>
            </a:r>
            <a:br>
              <a:rPr lang="en-US" altLang="zh-TW" sz="1600" dirty="0">
                <a:solidFill>
                  <a:srgbClr val="FF0000"/>
                </a:solidFill>
              </a:rPr>
            </a:br>
            <a:br>
              <a:rPr lang="en-US" altLang="zh-TW" sz="1600" dirty="0">
                <a:solidFill>
                  <a:srgbClr val="FF0000"/>
                </a:solidFill>
              </a:rPr>
            </a:br>
            <a:r>
              <a:rPr lang="zh-TW" altLang="en-US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藍框</a:t>
            </a:r>
            <a:r>
              <a:rPr lang="en-US" altLang="zh-TW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:</a:t>
            </a:r>
            <a:r>
              <a:rPr lang="zh-TW" altLang="en-US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功能按鍵</a:t>
            </a:r>
            <a:r>
              <a:rPr lang="en-US" altLang="zh-TW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,</a:t>
            </a:r>
            <a:r>
              <a:rPr lang="zh-TW" altLang="en-US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切換品項類別</a:t>
            </a:r>
            <a:r>
              <a:rPr lang="zh-TW" altLang="en-US" sz="1600" dirty="0">
                <a:solidFill>
                  <a:schemeClr val="tx2">
                    <a:lumMod val="75000"/>
                    <a:lumOff val="25000"/>
                  </a:schemeClr>
                </a:solidFill>
                <a:latin typeface="PMingLiU" panose="02020500000000000000" pitchFamily="18" charset="-120"/>
                <a:ea typeface="PMingLiU" panose="02020500000000000000" pitchFamily="18" charset="-120"/>
              </a:rPr>
              <a:t>。</a:t>
            </a:r>
            <a:br>
              <a:rPr lang="en-US" altLang="zh-TW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</a:br>
            <a:r>
              <a:rPr lang="zh-TW" altLang="en-US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其品項類別為</a:t>
            </a:r>
            <a:endParaRPr lang="en-US" altLang="zh-TW" sz="16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r>
              <a:rPr lang="zh-TW" altLang="en-US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前備</a:t>
            </a:r>
            <a:r>
              <a:rPr lang="en-US" altLang="zh-TW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(</a:t>
            </a:r>
            <a:r>
              <a:rPr lang="zh-TW" altLang="en-US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紅色</a:t>
            </a:r>
            <a:r>
              <a:rPr lang="en-US" altLang="zh-TW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)</a:t>
            </a:r>
            <a:r>
              <a:rPr lang="zh-TW" altLang="en-US" sz="1600" dirty="0">
                <a:solidFill>
                  <a:schemeClr val="tx2">
                    <a:lumMod val="75000"/>
                    <a:lumOff val="25000"/>
                  </a:schemeClr>
                </a:solidFill>
                <a:latin typeface="新細明體" panose="02020500000000000000" pitchFamily="18" charset="-120"/>
              </a:rPr>
              <a:t>、</a:t>
            </a:r>
            <a:endParaRPr lang="en-US" altLang="zh-TW" sz="1600" dirty="0">
              <a:solidFill>
                <a:schemeClr val="tx2">
                  <a:lumMod val="75000"/>
                  <a:lumOff val="25000"/>
                </a:schemeClr>
              </a:solidFill>
              <a:latin typeface="新細明體" panose="02020500000000000000" pitchFamily="18" charset="-120"/>
            </a:endParaRPr>
          </a:p>
          <a:p>
            <a:r>
              <a:rPr lang="zh-TW" altLang="en-US" sz="1600" dirty="0">
                <a:solidFill>
                  <a:schemeClr val="tx2">
                    <a:lumMod val="75000"/>
                    <a:lumOff val="25000"/>
                  </a:schemeClr>
                </a:solidFill>
                <a:latin typeface="新細明體" panose="02020500000000000000" pitchFamily="18" charset="-120"/>
              </a:rPr>
              <a:t>加工</a:t>
            </a:r>
            <a:r>
              <a:rPr lang="en-US" altLang="zh-TW" sz="1600" dirty="0">
                <a:solidFill>
                  <a:schemeClr val="tx2">
                    <a:lumMod val="75000"/>
                    <a:lumOff val="25000"/>
                  </a:schemeClr>
                </a:solidFill>
                <a:latin typeface="新細明體" panose="02020500000000000000" pitchFamily="18" charset="-120"/>
              </a:rPr>
              <a:t>(</a:t>
            </a:r>
            <a:r>
              <a:rPr lang="zh-TW" altLang="en-US" sz="1600" dirty="0">
                <a:solidFill>
                  <a:schemeClr val="tx2">
                    <a:lumMod val="75000"/>
                    <a:lumOff val="25000"/>
                  </a:schemeClr>
                </a:solidFill>
                <a:latin typeface="新細明體" panose="02020500000000000000" pitchFamily="18" charset="-120"/>
              </a:rPr>
              <a:t>藍色</a:t>
            </a:r>
            <a:r>
              <a:rPr lang="en-US" altLang="zh-TW" sz="1600" dirty="0">
                <a:solidFill>
                  <a:schemeClr val="tx2">
                    <a:lumMod val="75000"/>
                    <a:lumOff val="25000"/>
                  </a:schemeClr>
                </a:solidFill>
                <a:latin typeface="新細明體" panose="02020500000000000000" pitchFamily="18" charset="-120"/>
              </a:rPr>
              <a:t>)</a:t>
            </a:r>
            <a:r>
              <a:rPr lang="zh-TW" altLang="en-US" sz="1600" dirty="0">
                <a:solidFill>
                  <a:schemeClr val="tx2">
                    <a:lumMod val="75000"/>
                    <a:lumOff val="25000"/>
                  </a:schemeClr>
                </a:solidFill>
                <a:latin typeface="新細明體" panose="02020500000000000000" pitchFamily="18" charset="-120"/>
              </a:rPr>
              <a:t>、</a:t>
            </a:r>
            <a:endParaRPr lang="en-US" altLang="zh-TW" sz="1600" dirty="0">
              <a:solidFill>
                <a:schemeClr val="tx2">
                  <a:lumMod val="75000"/>
                  <a:lumOff val="25000"/>
                </a:schemeClr>
              </a:solidFill>
              <a:latin typeface="新細明體" panose="02020500000000000000" pitchFamily="18" charset="-120"/>
            </a:endParaRPr>
          </a:p>
          <a:p>
            <a:r>
              <a:rPr lang="zh-TW" altLang="en-US" sz="1600" dirty="0">
                <a:solidFill>
                  <a:schemeClr val="tx2">
                    <a:lumMod val="75000"/>
                    <a:lumOff val="25000"/>
                  </a:schemeClr>
                </a:solidFill>
                <a:latin typeface="新細明體" panose="02020500000000000000" pitchFamily="18" charset="-120"/>
              </a:rPr>
              <a:t>包裝</a:t>
            </a:r>
            <a:r>
              <a:rPr lang="en-US" altLang="zh-TW" sz="1600" dirty="0">
                <a:solidFill>
                  <a:schemeClr val="tx2">
                    <a:lumMod val="75000"/>
                    <a:lumOff val="25000"/>
                  </a:schemeClr>
                </a:solidFill>
                <a:latin typeface="新細明體" panose="02020500000000000000" pitchFamily="18" charset="-120"/>
              </a:rPr>
              <a:t>(</a:t>
            </a:r>
            <a:r>
              <a:rPr lang="zh-TW" altLang="en-US" sz="1600" dirty="0">
                <a:solidFill>
                  <a:schemeClr val="tx2">
                    <a:lumMod val="75000"/>
                    <a:lumOff val="25000"/>
                  </a:schemeClr>
                </a:solidFill>
                <a:latin typeface="新細明體" panose="02020500000000000000" pitchFamily="18" charset="-120"/>
              </a:rPr>
              <a:t>橘色</a:t>
            </a:r>
            <a:r>
              <a:rPr lang="en-US" altLang="zh-TW" sz="1600" dirty="0">
                <a:solidFill>
                  <a:schemeClr val="tx2">
                    <a:lumMod val="75000"/>
                    <a:lumOff val="25000"/>
                  </a:schemeClr>
                </a:solidFill>
                <a:latin typeface="新細明體" panose="02020500000000000000" pitchFamily="18" charset="-120"/>
              </a:rPr>
              <a:t>)</a:t>
            </a:r>
          </a:p>
          <a:p>
            <a:endParaRPr lang="en-US" altLang="zh-TW" sz="1600" dirty="0">
              <a:solidFill>
                <a:schemeClr val="tx2">
                  <a:lumMod val="75000"/>
                  <a:lumOff val="25000"/>
                </a:schemeClr>
              </a:solidFill>
              <a:latin typeface="新細明體" panose="02020500000000000000" pitchFamily="18" charset="-120"/>
            </a:endParaRPr>
          </a:p>
          <a:p>
            <a:endParaRPr lang="en-US" altLang="zh-TW" sz="16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br>
              <a:rPr lang="en-US" altLang="zh-TW" sz="1600" dirty="0">
                <a:solidFill>
                  <a:srgbClr val="FF0000"/>
                </a:solidFill>
              </a:rPr>
            </a:br>
            <a:endParaRPr lang="en-US" altLang="zh-TW" sz="1600" dirty="0"/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34798503-37D5-1D63-D717-2893A33E2A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286000" y="0"/>
            <a:ext cx="9858374" cy="6858000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7CA2C51A-CCB8-20AB-2E94-22E72F75F5D6}"/>
              </a:ext>
            </a:extLst>
          </p:cNvPr>
          <p:cNvSpPr/>
          <p:nvPr/>
        </p:nvSpPr>
        <p:spPr>
          <a:xfrm flipV="1">
            <a:off x="2471057" y="1341262"/>
            <a:ext cx="957943" cy="462019"/>
          </a:xfrm>
          <a:prstGeom prst="rect">
            <a:avLst/>
          </a:prstGeom>
          <a:solidFill>
            <a:schemeClr val="accent1">
              <a:alpha val="0"/>
            </a:schemeClr>
          </a:solidFill>
          <a:ln w="444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406118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793F2D-75BB-9E0C-009B-9966FEA6C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>
            <a:extLst>
              <a:ext uri="{FF2B5EF4-FFF2-40B4-BE49-F238E27FC236}">
                <a16:creationId xmlns:a16="http://schemas.microsoft.com/office/drawing/2014/main" id="{F5F98715-E5CF-41CB-3C59-DA711B37DE5D}"/>
              </a:ext>
            </a:extLst>
          </p:cNvPr>
          <p:cNvSpPr txBox="1"/>
          <p:nvPr/>
        </p:nvSpPr>
        <p:spPr>
          <a:xfrm>
            <a:off x="-1" y="327660"/>
            <a:ext cx="2059441" cy="107721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TW" altLang="en-US" sz="1600" dirty="0">
                <a:solidFill>
                  <a:srgbClr val="FF0000"/>
                </a:solidFill>
              </a:rPr>
              <a:t>產間</a:t>
            </a:r>
            <a:r>
              <a:rPr lang="en-US" altLang="zh-TW" sz="1600" dirty="0">
                <a:solidFill>
                  <a:srgbClr val="FF0000"/>
                </a:solidFill>
              </a:rPr>
              <a:t>_</a:t>
            </a:r>
            <a:r>
              <a:rPr lang="zh-TW" altLang="en-US" sz="1600" dirty="0">
                <a:solidFill>
                  <a:srgbClr val="FF0000"/>
                </a:solidFill>
              </a:rPr>
              <a:t>出產</a:t>
            </a:r>
            <a:br>
              <a:rPr lang="en-US" altLang="zh-TW" sz="1600" dirty="0">
                <a:solidFill>
                  <a:srgbClr val="FF0000"/>
                </a:solidFill>
              </a:rPr>
            </a:br>
            <a:br>
              <a:rPr lang="en-US" altLang="zh-TW" sz="1600" dirty="0">
                <a:solidFill>
                  <a:srgbClr val="FF0000"/>
                </a:solidFill>
              </a:rPr>
            </a:br>
            <a:br>
              <a:rPr lang="en-US" altLang="zh-TW" sz="1600" dirty="0">
                <a:solidFill>
                  <a:srgbClr val="FF0000"/>
                </a:solidFill>
              </a:rPr>
            </a:br>
            <a:endParaRPr lang="en-US" altLang="zh-TW" sz="1600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D73FE198-6F4A-BD67-EB6A-D7C73E8EB8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35640" y="0"/>
            <a:ext cx="985837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79327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D3C1E-BAFB-A1DA-E421-C11F6DEC2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>
            <a:extLst>
              <a:ext uri="{FF2B5EF4-FFF2-40B4-BE49-F238E27FC236}">
                <a16:creationId xmlns:a16="http://schemas.microsoft.com/office/drawing/2014/main" id="{19FEBB75-5DE8-C7A8-DCAC-657F47D9D329}"/>
              </a:ext>
            </a:extLst>
          </p:cNvPr>
          <p:cNvSpPr txBox="1"/>
          <p:nvPr/>
        </p:nvSpPr>
        <p:spPr>
          <a:xfrm>
            <a:off x="0" y="331964"/>
            <a:ext cx="2262946" cy="55092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TW" altLang="en-US" sz="1600" dirty="0">
                <a:solidFill>
                  <a:srgbClr val="FF0000"/>
                </a:solidFill>
              </a:rPr>
              <a:t>歷史紀錄</a:t>
            </a:r>
            <a:br>
              <a:rPr lang="en-US" altLang="zh-TW" sz="1600" dirty="0">
                <a:solidFill>
                  <a:srgbClr val="FF0000"/>
                </a:solidFill>
              </a:rPr>
            </a:br>
            <a:br>
              <a:rPr lang="en-US" altLang="zh-TW" sz="1600" dirty="0">
                <a:solidFill>
                  <a:srgbClr val="FF0000"/>
                </a:solidFill>
              </a:rPr>
            </a:br>
            <a:r>
              <a:rPr lang="zh-TW" altLang="en-US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保留一個月的資料</a:t>
            </a:r>
            <a:r>
              <a:rPr lang="zh-TW" altLang="en-US" sz="1600" dirty="0">
                <a:solidFill>
                  <a:schemeClr val="tx2">
                    <a:lumMod val="75000"/>
                    <a:lumOff val="25000"/>
                  </a:schemeClr>
                </a:solidFill>
                <a:latin typeface="Poiret One" panose="020F0502020204030204" pitchFamily="2" charset="0"/>
              </a:rPr>
              <a:t>，</a:t>
            </a:r>
            <a:r>
              <a:rPr lang="zh-TW" altLang="en-US" sz="1600" dirty="0">
                <a:solidFill>
                  <a:schemeClr val="tx2">
                    <a:lumMod val="75000"/>
                    <a:lumOff val="25000"/>
                  </a:schemeClr>
                </a:solidFill>
                <a:latin typeface="Poiret One" panose="00000500000000000000" pitchFamily="2" charset="0"/>
              </a:rPr>
              <a:t>預設顯示</a:t>
            </a:r>
            <a:r>
              <a:rPr lang="en-US" altLang="zh-TW" sz="1600" dirty="0">
                <a:solidFill>
                  <a:schemeClr val="tx2">
                    <a:lumMod val="75000"/>
                    <a:lumOff val="25000"/>
                  </a:schemeClr>
                </a:solidFill>
                <a:latin typeface="Poiret One" panose="00000500000000000000" pitchFamily="2" charset="0"/>
              </a:rPr>
              <a:t>“</a:t>
            </a:r>
            <a:r>
              <a:rPr lang="zh-TW" altLang="en-US" sz="1600" dirty="0">
                <a:solidFill>
                  <a:schemeClr val="tx2">
                    <a:lumMod val="75000"/>
                    <a:lumOff val="25000"/>
                  </a:schemeClr>
                </a:solidFill>
                <a:latin typeface="Poiret One" panose="00000500000000000000" pitchFamily="2" charset="0"/>
              </a:rPr>
              <a:t>未同步</a:t>
            </a:r>
            <a:r>
              <a:rPr lang="en-US" altLang="zh-TW" sz="1600" dirty="0">
                <a:solidFill>
                  <a:schemeClr val="tx2">
                    <a:lumMod val="75000"/>
                    <a:lumOff val="25000"/>
                  </a:schemeClr>
                </a:solidFill>
                <a:latin typeface="Poiret One" panose="00000500000000000000" pitchFamily="2" charset="0"/>
              </a:rPr>
              <a:t>”</a:t>
            </a:r>
            <a:r>
              <a:rPr lang="zh-TW" altLang="en-US" sz="1600" dirty="0">
                <a:solidFill>
                  <a:schemeClr val="tx2">
                    <a:lumMod val="75000"/>
                    <a:lumOff val="25000"/>
                  </a:schemeClr>
                </a:solidFill>
                <a:latin typeface="Poiret One" panose="00000500000000000000" pitchFamily="2" charset="0"/>
              </a:rPr>
              <a:t>資料</a:t>
            </a:r>
            <a:endParaRPr lang="en-US" altLang="zh-TW" sz="1600" dirty="0">
              <a:solidFill>
                <a:schemeClr val="tx2">
                  <a:lumMod val="75000"/>
                  <a:lumOff val="25000"/>
                </a:schemeClr>
              </a:solidFill>
              <a:latin typeface="Poiret One" panose="00000500000000000000" pitchFamily="2" charset="0"/>
            </a:endParaRPr>
          </a:p>
          <a:p>
            <a:endParaRPr lang="en-US" altLang="zh-TW" sz="1600" dirty="0">
              <a:solidFill>
                <a:schemeClr val="tx2">
                  <a:lumMod val="75000"/>
                  <a:lumOff val="25000"/>
                </a:schemeClr>
              </a:solidFill>
              <a:latin typeface="Poiret One" panose="00000500000000000000" pitchFamily="2" charset="0"/>
            </a:endParaRPr>
          </a:p>
          <a:p>
            <a:r>
              <a:rPr lang="zh-TW" altLang="en-US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藍框</a:t>
            </a:r>
            <a:r>
              <a:rPr lang="en-US" altLang="zh-TW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:</a:t>
            </a:r>
            <a:r>
              <a:rPr lang="zh-TW" altLang="en-US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zh-TW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ON/OFF</a:t>
            </a:r>
            <a:r>
              <a:rPr lang="zh-TW" altLang="en-US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數值</a:t>
            </a:r>
            <a:r>
              <a:rPr lang="zh-TW" altLang="en-US" sz="1600" dirty="0">
                <a:solidFill>
                  <a:schemeClr val="tx2">
                    <a:lumMod val="75000"/>
                    <a:lumOff val="25000"/>
                  </a:schemeClr>
                </a:solidFill>
                <a:latin typeface="Poiret One" panose="00000500000000000000" pitchFamily="2" charset="0"/>
                <a:ea typeface="PMingLiU" panose="02020500000000000000" pitchFamily="18" charset="-120"/>
              </a:rPr>
              <a:t>，預設數值為</a:t>
            </a:r>
            <a:r>
              <a:rPr lang="en-US" altLang="zh-TW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ON</a:t>
            </a:r>
            <a:r>
              <a:rPr lang="zh-TW" altLang="en-US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顯示</a:t>
            </a:r>
            <a:r>
              <a:rPr lang="zh-TW" altLang="en-US" sz="1600" dirty="0">
                <a:solidFill>
                  <a:schemeClr val="tx2">
                    <a:lumMod val="75000"/>
                    <a:lumOff val="25000"/>
                  </a:schemeClr>
                </a:solidFill>
                <a:latin typeface="Poiret One" panose="00000500000000000000" pitchFamily="2" charset="0"/>
              </a:rPr>
              <a:t> </a:t>
            </a:r>
            <a:r>
              <a:rPr lang="en-US" altLang="zh-TW" sz="1600" dirty="0">
                <a:solidFill>
                  <a:schemeClr val="tx2">
                    <a:lumMod val="75000"/>
                    <a:lumOff val="25000"/>
                  </a:schemeClr>
                </a:solidFill>
                <a:latin typeface="Poiret One" panose="00000500000000000000" pitchFamily="2" charset="0"/>
              </a:rPr>
              <a:t>“</a:t>
            </a:r>
            <a:r>
              <a:rPr lang="zh-TW" altLang="en-US" sz="1600" dirty="0">
                <a:solidFill>
                  <a:srgbClr val="FF0000"/>
                </a:solidFill>
                <a:latin typeface="Poiret One" panose="00000500000000000000" pitchFamily="2" charset="0"/>
              </a:rPr>
              <a:t>未同步</a:t>
            </a:r>
            <a:r>
              <a:rPr lang="en-US" altLang="zh-TW" sz="1600" dirty="0">
                <a:solidFill>
                  <a:schemeClr val="tx2">
                    <a:lumMod val="75000"/>
                    <a:lumOff val="25000"/>
                  </a:schemeClr>
                </a:solidFill>
                <a:latin typeface="Poiret One" panose="00000500000000000000" pitchFamily="2" charset="0"/>
              </a:rPr>
              <a:t>”</a:t>
            </a:r>
            <a:r>
              <a:rPr lang="zh-TW" altLang="en-US" sz="1600" dirty="0">
                <a:solidFill>
                  <a:schemeClr val="tx2">
                    <a:lumMod val="75000"/>
                    <a:lumOff val="25000"/>
                  </a:schemeClr>
                </a:solidFill>
                <a:latin typeface="Poiret One" panose="00000500000000000000" pitchFamily="2" charset="0"/>
              </a:rPr>
              <a:t>的資料</a:t>
            </a:r>
            <a:r>
              <a:rPr lang="zh-TW" altLang="en-US" sz="1600" dirty="0">
                <a:solidFill>
                  <a:schemeClr val="tx2">
                    <a:lumMod val="75000"/>
                    <a:lumOff val="25000"/>
                  </a:schemeClr>
                </a:solidFill>
                <a:latin typeface="PMingLiU" panose="02020500000000000000" pitchFamily="18" charset="-120"/>
                <a:ea typeface="PMingLiU" panose="02020500000000000000" pitchFamily="18" charset="-120"/>
              </a:rPr>
              <a:t>；</a:t>
            </a:r>
            <a:r>
              <a:rPr lang="zh-TW" altLang="en-US" sz="1600" dirty="0">
                <a:solidFill>
                  <a:schemeClr val="tx2">
                    <a:lumMod val="75000"/>
                    <a:lumOff val="25000"/>
                  </a:schemeClr>
                </a:solidFill>
                <a:latin typeface="Poiret One" panose="00000500000000000000" pitchFamily="2" charset="0"/>
                <a:ea typeface="PMingLiU" panose="02020500000000000000" pitchFamily="18" charset="-120"/>
              </a:rPr>
              <a:t>數值為</a:t>
            </a:r>
            <a:r>
              <a:rPr lang="en-US" altLang="zh-TW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OFF</a:t>
            </a:r>
            <a:r>
              <a:rPr lang="zh-TW" altLang="en-US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顯示</a:t>
            </a:r>
            <a:r>
              <a:rPr lang="zh-TW" altLang="en-US" sz="1600" dirty="0">
                <a:solidFill>
                  <a:schemeClr val="tx2">
                    <a:lumMod val="75000"/>
                    <a:lumOff val="25000"/>
                  </a:schemeClr>
                </a:solidFill>
                <a:latin typeface="Poiret One" panose="00000500000000000000" pitchFamily="2" charset="0"/>
              </a:rPr>
              <a:t> </a:t>
            </a:r>
            <a:r>
              <a:rPr lang="en-US" altLang="zh-TW" sz="1600" dirty="0">
                <a:solidFill>
                  <a:schemeClr val="tx2">
                    <a:lumMod val="75000"/>
                    <a:lumOff val="25000"/>
                  </a:schemeClr>
                </a:solidFill>
                <a:latin typeface="Poiret One" panose="00000500000000000000" pitchFamily="2" charset="0"/>
              </a:rPr>
              <a:t>“</a:t>
            </a:r>
            <a:r>
              <a:rPr lang="zh-TW" altLang="en-US" sz="1600" dirty="0">
                <a:solidFill>
                  <a:srgbClr val="FF0000"/>
                </a:solidFill>
                <a:latin typeface="Poiret One" panose="00000500000000000000" pitchFamily="2" charset="0"/>
              </a:rPr>
              <a:t>全部</a:t>
            </a:r>
            <a:r>
              <a:rPr lang="en-US" altLang="zh-TW" sz="1600" dirty="0">
                <a:solidFill>
                  <a:schemeClr val="tx2">
                    <a:lumMod val="75000"/>
                    <a:lumOff val="25000"/>
                  </a:schemeClr>
                </a:solidFill>
                <a:latin typeface="Poiret One" panose="00000500000000000000" pitchFamily="2" charset="0"/>
              </a:rPr>
              <a:t>”</a:t>
            </a:r>
            <a:r>
              <a:rPr lang="zh-TW" altLang="en-US" sz="1600" dirty="0">
                <a:solidFill>
                  <a:schemeClr val="tx2">
                    <a:lumMod val="75000"/>
                    <a:lumOff val="25000"/>
                  </a:schemeClr>
                </a:solidFill>
                <a:latin typeface="Poiret One" panose="00000500000000000000" pitchFamily="2" charset="0"/>
              </a:rPr>
              <a:t>的資料</a:t>
            </a:r>
            <a:r>
              <a:rPr lang="zh-TW" altLang="en-US" sz="1600" dirty="0">
                <a:solidFill>
                  <a:schemeClr val="tx2">
                    <a:lumMod val="75000"/>
                    <a:lumOff val="25000"/>
                  </a:schemeClr>
                </a:solidFill>
                <a:latin typeface="PMingLiU" panose="02020500000000000000" pitchFamily="18" charset="-120"/>
                <a:ea typeface="PMingLiU" panose="02020500000000000000" pitchFamily="18" charset="-120"/>
              </a:rPr>
              <a:t>。</a:t>
            </a:r>
            <a:endParaRPr lang="en-US" altLang="zh-TW" sz="1600" dirty="0"/>
          </a:p>
          <a:p>
            <a:endParaRPr lang="en-US" altLang="zh-TW" sz="1600" dirty="0">
              <a:solidFill>
                <a:schemeClr val="tx2">
                  <a:lumMod val="75000"/>
                  <a:lumOff val="25000"/>
                </a:schemeClr>
              </a:solidFill>
              <a:latin typeface="Poiret One" panose="00000500000000000000" pitchFamily="2" charset="0"/>
            </a:endParaRPr>
          </a:p>
          <a:p>
            <a:r>
              <a:rPr lang="zh-TW" altLang="en-US" sz="1600" dirty="0">
                <a:solidFill>
                  <a:schemeClr val="tx2">
                    <a:lumMod val="75000"/>
                    <a:lumOff val="25000"/>
                  </a:schemeClr>
                </a:solidFill>
                <a:latin typeface="Poiret One" panose="00000500000000000000" pitchFamily="2" charset="0"/>
              </a:rPr>
              <a:t>橘框</a:t>
            </a:r>
            <a:r>
              <a:rPr lang="en-US" altLang="zh-TW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:</a:t>
            </a:r>
            <a:endParaRPr lang="en-US" altLang="zh-TW" sz="1600" dirty="0">
              <a:solidFill>
                <a:schemeClr val="tx2">
                  <a:lumMod val="75000"/>
                  <a:lumOff val="25000"/>
                </a:schemeClr>
              </a:solidFill>
              <a:latin typeface="Poiret One" panose="00000500000000000000" pitchFamily="2" charset="0"/>
            </a:endParaRPr>
          </a:p>
          <a:p>
            <a:r>
              <a:rPr lang="zh-TW" altLang="en-US" sz="1600" dirty="0">
                <a:solidFill>
                  <a:schemeClr val="tx2">
                    <a:lumMod val="75000"/>
                    <a:lumOff val="25000"/>
                  </a:schemeClr>
                </a:solidFill>
                <a:latin typeface="PMingLiU" panose="02020500000000000000" pitchFamily="18" charset="-120"/>
                <a:ea typeface="PMingLiU" panose="02020500000000000000" pitchFamily="18" charset="-120"/>
              </a:rPr>
              <a:t>「</a:t>
            </a:r>
            <a:r>
              <a:rPr lang="zh-TW" altLang="en-US" sz="1600" dirty="0">
                <a:solidFill>
                  <a:schemeClr val="tx2">
                    <a:lumMod val="75000"/>
                    <a:lumOff val="25000"/>
                  </a:schemeClr>
                </a:solidFill>
                <a:latin typeface="Poiret One" panose="00000500000000000000" pitchFamily="2" charset="0"/>
              </a:rPr>
              <a:t>資料同步</a:t>
            </a:r>
            <a:r>
              <a:rPr lang="zh-TW" altLang="en-US" sz="1600" dirty="0">
                <a:solidFill>
                  <a:schemeClr val="tx2">
                    <a:lumMod val="75000"/>
                    <a:lumOff val="25000"/>
                  </a:schemeClr>
                </a:solidFill>
                <a:latin typeface="新細明體" panose="02020500000000000000" pitchFamily="18" charset="-120"/>
              </a:rPr>
              <a:t>」</a:t>
            </a:r>
            <a:r>
              <a:rPr lang="en-US" altLang="zh-TW" sz="1600" dirty="0">
                <a:solidFill>
                  <a:schemeClr val="tx2">
                    <a:lumMod val="75000"/>
                    <a:lumOff val="25000"/>
                  </a:schemeClr>
                </a:solidFill>
                <a:latin typeface="Poiret One" panose="00000500000000000000" pitchFamily="2" charset="0"/>
              </a:rPr>
              <a:t>:</a:t>
            </a:r>
            <a:r>
              <a:rPr lang="zh-TW" altLang="en-US" sz="1600" dirty="0">
                <a:solidFill>
                  <a:schemeClr val="tx2">
                    <a:lumMod val="75000"/>
                    <a:lumOff val="25000"/>
                  </a:schemeClr>
                </a:solidFill>
                <a:latin typeface="Poiret One" panose="00000500000000000000" pitchFamily="2" charset="0"/>
              </a:rPr>
              <a:t> </a:t>
            </a:r>
            <a:endParaRPr lang="en-US" altLang="zh-TW" sz="1600" dirty="0">
              <a:solidFill>
                <a:schemeClr val="tx2">
                  <a:lumMod val="75000"/>
                  <a:lumOff val="25000"/>
                </a:schemeClr>
              </a:solidFill>
              <a:latin typeface="Poiret One" panose="00000500000000000000" pitchFamily="2" charset="0"/>
            </a:endParaRPr>
          </a:p>
          <a:p>
            <a:r>
              <a:rPr lang="zh-TW" altLang="en-US" sz="1600" dirty="0">
                <a:solidFill>
                  <a:schemeClr val="tx2">
                    <a:lumMod val="75000"/>
                    <a:lumOff val="25000"/>
                  </a:schemeClr>
                </a:solidFill>
                <a:latin typeface="Poiret One" panose="00000500000000000000" pitchFamily="2" charset="0"/>
              </a:rPr>
              <a:t>預設同步 </a:t>
            </a:r>
            <a:r>
              <a:rPr lang="en-US" altLang="zh-TW" sz="1600" dirty="0">
                <a:solidFill>
                  <a:schemeClr val="tx2">
                    <a:lumMod val="75000"/>
                    <a:lumOff val="25000"/>
                  </a:schemeClr>
                </a:solidFill>
                <a:latin typeface="Poiret One" panose="00000500000000000000" pitchFamily="2" charset="0"/>
              </a:rPr>
              <a:t>“</a:t>
            </a:r>
            <a:r>
              <a:rPr lang="zh-TW" altLang="en-US" sz="1600" dirty="0">
                <a:solidFill>
                  <a:srgbClr val="FF0000"/>
                </a:solidFill>
                <a:latin typeface="Poiret One" panose="00000500000000000000" pitchFamily="2" charset="0"/>
              </a:rPr>
              <a:t>未同步</a:t>
            </a:r>
            <a:r>
              <a:rPr lang="en-US" altLang="zh-TW" sz="1600" dirty="0">
                <a:solidFill>
                  <a:schemeClr val="tx2">
                    <a:lumMod val="75000"/>
                    <a:lumOff val="25000"/>
                  </a:schemeClr>
                </a:solidFill>
                <a:latin typeface="Poiret One" panose="00000500000000000000" pitchFamily="2" charset="0"/>
              </a:rPr>
              <a:t>”</a:t>
            </a:r>
            <a:r>
              <a:rPr lang="zh-TW" altLang="en-US" sz="1600" dirty="0">
                <a:solidFill>
                  <a:schemeClr val="tx2">
                    <a:lumMod val="75000"/>
                    <a:lumOff val="25000"/>
                  </a:schemeClr>
                </a:solidFill>
                <a:latin typeface="Poiret One" panose="00000500000000000000" pitchFamily="2" charset="0"/>
              </a:rPr>
              <a:t>的資料</a:t>
            </a:r>
            <a:r>
              <a:rPr lang="zh-TW" altLang="en-US" sz="1600" dirty="0">
                <a:solidFill>
                  <a:schemeClr val="tx2">
                    <a:lumMod val="75000"/>
                    <a:lumOff val="25000"/>
                  </a:schemeClr>
                </a:solidFill>
                <a:latin typeface="PMingLiU" panose="02020500000000000000" pitchFamily="18" charset="-120"/>
                <a:ea typeface="PMingLiU" panose="02020500000000000000" pitchFamily="18" charset="-120"/>
              </a:rPr>
              <a:t>。</a:t>
            </a:r>
            <a:endParaRPr lang="en-US" altLang="zh-TW" sz="1600" dirty="0">
              <a:solidFill>
                <a:schemeClr val="tx2">
                  <a:lumMod val="75000"/>
                  <a:lumOff val="25000"/>
                </a:schemeClr>
              </a:solidFill>
              <a:latin typeface="PMingLiU" panose="02020500000000000000" pitchFamily="18" charset="-120"/>
              <a:ea typeface="PMingLiU" panose="02020500000000000000" pitchFamily="18" charset="-120"/>
            </a:endParaRPr>
          </a:p>
          <a:p>
            <a:r>
              <a:rPr lang="zh-TW" altLang="en-US" sz="1600" dirty="0">
                <a:solidFill>
                  <a:schemeClr val="tx2">
                    <a:lumMod val="75000"/>
                    <a:lumOff val="25000"/>
                  </a:schemeClr>
                </a:solidFill>
                <a:latin typeface="Poiret One" panose="00000500000000000000" pitchFamily="2" charset="0"/>
              </a:rPr>
              <a:t>使用者若點選選取，則同步 </a:t>
            </a:r>
            <a:r>
              <a:rPr lang="en-US" altLang="zh-TW" sz="1600" dirty="0">
                <a:solidFill>
                  <a:schemeClr val="tx2">
                    <a:lumMod val="75000"/>
                    <a:lumOff val="25000"/>
                  </a:schemeClr>
                </a:solidFill>
                <a:latin typeface="Poiret One" panose="00000500000000000000" pitchFamily="2" charset="0"/>
              </a:rPr>
              <a:t>“</a:t>
            </a:r>
            <a:r>
              <a:rPr lang="zh-TW" altLang="en-US" sz="1600" dirty="0">
                <a:solidFill>
                  <a:srgbClr val="FF0000"/>
                </a:solidFill>
                <a:latin typeface="Poiret One" panose="00000500000000000000" pitchFamily="2" charset="0"/>
              </a:rPr>
              <a:t>勾選</a:t>
            </a:r>
            <a:r>
              <a:rPr lang="en-US" altLang="zh-TW" sz="1600" dirty="0">
                <a:solidFill>
                  <a:schemeClr val="tx2">
                    <a:lumMod val="75000"/>
                    <a:lumOff val="25000"/>
                  </a:schemeClr>
                </a:solidFill>
                <a:latin typeface="Poiret One" panose="00000500000000000000" pitchFamily="2" charset="0"/>
              </a:rPr>
              <a:t>”</a:t>
            </a:r>
            <a:r>
              <a:rPr lang="zh-TW" altLang="en-US" sz="1600" dirty="0">
                <a:solidFill>
                  <a:schemeClr val="tx2">
                    <a:lumMod val="75000"/>
                    <a:lumOff val="25000"/>
                  </a:schemeClr>
                </a:solidFill>
                <a:latin typeface="Poiret One" panose="00000500000000000000" pitchFamily="2" charset="0"/>
              </a:rPr>
              <a:t>的資料</a:t>
            </a:r>
            <a:r>
              <a:rPr lang="zh-TW" altLang="en-US" sz="1600" dirty="0">
                <a:solidFill>
                  <a:schemeClr val="tx2">
                    <a:lumMod val="75000"/>
                    <a:lumOff val="25000"/>
                  </a:schemeClr>
                </a:solidFill>
                <a:latin typeface="PMingLiU" panose="02020500000000000000" pitchFamily="18" charset="-120"/>
                <a:ea typeface="PMingLiU" panose="02020500000000000000" pitchFamily="18" charset="-120"/>
              </a:rPr>
              <a:t>。</a:t>
            </a:r>
            <a:r>
              <a:rPr lang="zh-TW" altLang="en-US" sz="1600" dirty="0">
                <a:solidFill>
                  <a:schemeClr val="tx2">
                    <a:lumMod val="75000"/>
                    <a:lumOff val="25000"/>
                  </a:schemeClr>
                </a:solidFill>
                <a:latin typeface="Poiret One" panose="00000500000000000000" pitchFamily="2" charset="0"/>
              </a:rPr>
              <a:t> </a:t>
            </a:r>
            <a:endParaRPr lang="en-US" altLang="zh-TW" sz="1600" dirty="0">
              <a:solidFill>
                <a:schemeClr val="tx2">
                  <a:lumMod val="75000"/>
                  <a:lumOff val="25000"/>
                </a:schemeClr>
              </a:solidFill>
              <a:latin typeface="Poiret One" panose="00000500000000000000" pitchFamily="2" charset="0"/>
            </a:endParaRPr>
          </a:p>
          <a:p>
            <a:br>
              <a:rPr lang="en-US" altLang="zh-TW" sz="1600" dirty="0">
                <a:solidFill>
                  <a:schemeClr val="tx2">
                    <a:lumMod val="75000"/>
                    <a:lumOff val="25000"/>
                  </a:schemeClr>
                </a:solidFill>
                <a:latin typeface="Poiret One" panose="00000500000000000000" pitchFamily="2" charset="0"/>
              </a:rPr>
            </a:br>
            <a:r>
              <a:rPr lang="zh-TW" altLang="en-US" sz="1600" dirty="0">
                <a:solidFill>
                  <a:schemeClr val="tx2">
                    <a:lumMod val="75000"/>
                    <a:lumOff val="25000"/>
                  </a:schemeClr>
                </a:solidFill>
                <a:latin typeface="PMingLiU" panose="02020500000000000000" pitchFamily="18" charset="-120"/>
                <a:ea typeface="PMingLiU" panose="02020500000000000000" pitchFamily="18" charset="-120"/>
              </a:rPr>
              <a:t>「</a:t>
            </a:r>
            <a:r>
              <a:rPr lang="zh-TW" altLang="en-US" sz="1600" dirty="0">
                <a:solidFill>
                  <a:schemeClr val="tx2">
                    <a:lumMod val="75000"/>
                    <a:lumOff val="25000"/>
                  </a:schemeClr>
                </a:solidFill>
                <a:latin typeface="Poiret One" panose="00000500000000000000" pitchFamily="2" charset="0"/>
                <a:ea typeface="PMingLiU" panose="02020500000000000000" pitchFamily="18" charset="-120"/>
              </a:rPr>
              <a:t>補印標籤</a:t>
            </a:r>
            <a:r>
              <a:rPr lang="zh-TW" altLang="en-US" sz="1600" dirty="0">
                <a:solidFill>
                  <a:schemeClr val="tx2">
                    <a:lumMod val="75000"/>
                    <a:lumOff val="25000"/>
                  </a:schemeClr>
                </a:solidFill>
                <a:latin typeface="新細明體" panose="02020500000000000000" pitchFamily="18" charset="-120"/>
              </a:rPr>
              <a:t>」</a:t>
            </a:r>
            <a:r>
              <a:rPr lang="en-US" altLang="zh-TW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:</a:t>
            </a:r>
            <a:r>
              <a:rPr lang="zh-TW" altLang="en-US" sz="1600" dirty="0">
                <a:solidFill>
                  <a:schemeClr val="tx2">
                    <a:lumMod val="75000"/>
                    <a:lumOff val="25000"/>
                  </a:schemeClr>
                </a:solidFill>
                <a:latin typeface="Poiret One" panose="00000500000000000000" pitchFamily="2" charset="0"/>
              </a:rPr>
              <a:t> 預設補印 </a:t>
            </a:r>
            <a:r>
              <a:rPr lang="en-US" altLang="zh-TW" sz="1600" dirty="0">
                <a:solidFill>
                  <a:schemeClr val="tx2">
                    <a:lumMod val="75000"/>
                    <a:lumOff val="25000"/>
                  </a:schemeClr>
                </a:solidFill>
                <a:latin typeface="Poiret One" panose="00000500000000000000" pitchFamily="2" charset="0"/>
              </a:rPr>
              <a:t>“</a:t>
            </a:r>
            <a:r>
              <a:rPr lang="zh-TW" altLang="en-US" sz="1600" dirty="0">
                <a:solidFill>
                  <a:srgbClr val="FF0000"/>
                </a:solidFill>
                <a:latin typeface="Poiret One" panose="00000500000000000000" pitchFamily="2" charset="0"/>
              </a:rPr>
              <a:t>未同步</a:t>
            </a:r>
            <a:r>
              <a:rPr lang="en-US" altLang="zh-TW" sz="1600" dirty="0">
                <a:solidFill>
                  <a:schemeClr val="tx2">
                    <a:lumMod val="75000"/>
                    <a:lumOff val="25000"/>
                  </a:schemeClr>
                </a:solidFill>
                <a:latin typeface="Poiret One" panose="00000500000000000000" pitchFamily="2" charset="0"/>
              </a:rPr>
              <a:t>”</a:t>
            </a:r>
            <a:r>
              <a:rPr lang="zh-TW" altLang="en-US" sz="1600" dirty="0">
                <a:solidFill>
                  <a:schemeClr val="tx2">
                    <a:lumMod val="75000"/>
                    <a:lumOff val="25000"/>
                  </a:schemeClr>
                </a:solidFill>
                <a:latin typeface="Poiret One" panose="00000500000000000000" pitchFamily="2" charset="0"/>
              </a:rPr>
              <a:t>的標籤</a:t>
            </a:r>
            <a:r>
              <a:rPr lang="zh-TW" altLang="en-US" sz="1600" dirty="0">
                <a:solidFill>
                  <a:schemeClr val="tx2">
                    <a:lumMod val="75000"/>
                    <a:lumOff val="25000"/>
                  </a:schemeClr>
                </a:solidFill>
                <a:latin typeface="PMingLiU" panose="02020500000000000000" pitchFamily="18" charset="-120"/>
                <a:ea typeface="PMingLiU" panose="02020500000000000000" pitchFamily="18" charset="-120"/>
              </a:rPr>
              <a:t>。</a:t>
            </a:r>
            <a:endParaRPr lang="en-US" altLang="zh-TW" sz="1600" dirty="0">
              <a:solidFill>
                <a:schemeClr val="tx2">
                  <a:lumMod val="75000"/>
                  <a:lumOff val="25000"/>
                </a:schemeClr>
              </a:solidFill>
              <a:latin typeface="PMingLiU" panose="02020500000000000000" pitchFamily="18" charset="-120"/>
              <a:ea typeface="PMingLiU" panose="02020500000000000000" pitchFamily="18" charset="-120"/>
            </a:endParaRPr>
          </a:p>
          <a:p>
            <a:r>
              <a:rPr lang="zh-TW" altLang="en-US" sz="1600" dirty="0">
                <a:solidFill>
                  <a:schemeClr val="tx2">
                    <a:lumMod val="75000"/>
                    <a:lumOff val="25000"/>
                  </a:schemeClr>
                </a:solidFill>
                <a:latin typeface="Poiret One" panose="00000500000000000000" pitchFamily="2" charset="0"/>
              </a:rPr>
              <a:t>使用者若點選選取，則補印 </a:t>
            </a:r>
            <a:r>
              <a:rPr lang="en-US" altLang="zh-TW" sz="1600" dirty="0">
                <a:solidFill>
                  <a:schemeClr val="tx2">
                    <a:lumMod val="75000"/>
                    <a:lumOff val="25000"/>
                  </a:schemeClr>
                </a:solidFill>
                <a:latin typeface="Poiret One" panose="00000500000000000000" pitchFamily="2" charset="0"/>
              </a:rPr>
              <a:t>“</a:t>
            </a:r>
            <a:r>
              <a:rPr lang="zh-TW" altLang="en-US" sz="1600" dirty="0">
                <a:solidFill>
                  <a:srgbClr val="FF0000"/>
                </a:solidFill>
                <a:latin typeface="Poiret One" panose="00000500000000000000" pitchFamily="2" charset="0"/>
              </a:rPr>
              <a:t>勾選</a:t>
            </a:r>
            <a:r>
              <a:rPr lang="en-US" altLang="zh-TW" sz="1600" dirty="0">
                <a:solidFill>
                  <a:schemeClr val="tx2">
                    <a:lumMod val="75000"/>
                    <a:lumOff val="25000"/>
                  </a:schemeClr>
                </a:solidFill>
                <a:latin typeface="Poiret One" panose="00000500000000000000" pitchFamily="2" charset="0"/>
              </a:rPr>
              <a:t>”</a:t>
            </a:r>
            <a:r>
              <a:rPr lang="zh-TW" altLang="en-US" sz="1600" dirty="0">
                <a:solidFill>
                  <a:schemeClr val="tx2">
                    <a:lumMod val="75000"/>
                    <a:lumOff val="25000"/>
                  </a:schemeClr>
                </a:solidFill>
                <a:latin typeface="Poiret One" panose="00000500000000000000" pitchFamily="2" charset="0"/>
              </a:rPr>
              <a:t>的標籤</a:t>
            </a:r>
            <a:r>
              <a:rPr lang="zh-TW" altLang="en-US" sz="1600" dirty="0">
                <a:solidFill>
                  <a:schemeClr val="tx2">
                    <a:lumMod val="75000"/>
                    <a:lumOff val="25000"/>
                  </a:schemeClr>
                </a:solidFill>
                <a:latin typeface="PMingLiU" panose="02020500000000000000" pitchFamily="18" charset="-120"/>
                <a:ea typeface="PMingLiU" panose="02020500000000000000" pitchFamily="18" charset="-120"/>
              </a:rPr>
              <a:t>。</a:t>
            </a:r>
            <a:br>
              <a:rPr lang="en-US" altLang="zh-TW" sz="1600" dirty="0">
                <a:solidFill>
                  <a:srgbClr val="FF0000"/>
                </a:solidFill>
              </a:rPr>
            </a:br>
            <a:endParaRPr lang="en-US" altLang="zh-TW" sz="1600" dirty="0">
              <a:solidFill>
                <a:srgbClr val="FF0000"/>
              </a:solidFill>
            </a:endParaRPr>
          </a:p>
        </p:txBody>
      </p:sp>
      <p:pic>
        <p:nvPicPr>
          <p:cNvPr id="3" name="圖片 2" descr="一張含有 文字, 螢幕擷取畫面, 數字, 軟體 的圖片&#10;&#10;AI 產生的內容可能不正確。">
            <a:extLst>
              <a:ext uri="{FF2B5EF4-FFF2-40B4-BE49-F238E27FC236}">
                <a16:creationId xmlns:a16="http://schemas.microsoft.com/office/drawing/2014/main" id="{CBB7D393-5603-7010-D127-28BCE7FC3E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2947" y="452916"/>
            <a:ext cx="9929054" cy="5174751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2B8BCA27-8DDF-EA7D-CC80-25EAEA83035A}"/>
              </a:ext>
            </a:extLst>
          </p:cNvPr>
          <p:cNvSpPr/>
          <p:nvPr/>
        </p:nvSpPr>
        <p:spPr>
          <a:xfrm flipV="1">
            <a:off x="3570514" y="1537203"/>
            <a:ext cx="827315" cy="269825"/>
          </a:xfrm>
          <a:prstGeom prst="rect">
            <a:avLst/>
          </a:prstGeom>
          <a:solidFill>
            <a:schemeClr val="accent1">
              <a:alpha val="0"/>
            </a:schemeClr>
          </a:solidFill>
          <a:ln w="444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D870211-849A-556E-F97F-474EF43EABF2}"/>
              </a:ext>
            </a:extLst>
          </p:cNvPr>
          <p:cNvSpPr/>
          <p:nvPr/>
        </p:nvSpPr>
        <p:spPr>
          <a:xfrm flipV="1">
            <a:off x="3570514" y="4640625"/>
            <a:ext cx="2231572" cy="410347"/>
          </a:xfrm>
          <a:prstGeom prst="rect">
            <a:avLst/>
          </a:prstGeom>
          <a:solidFill>
            <a:schemeClr val="accent1">
              <a:alpha val="0"/>
            </a:schemeClr>
          </a:solidFill>
          <a:ln w="444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740324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736506-4528-C966-DDAB-8F4E6681A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>
            <a:extLst>
              <a:ext uri="{FF2B5EF4-FFF2-40B4-BE49-F238E27FC236}">
                <a16:creationId xmlns:a16="http://schemas.microsoft.com/office/drawing/2014/main" id="{A10D8AE9-4476-EC22-CDC0-BB8DAFF447BA}"/>
              </a:ext>
            </a:extLst>
          </p:cNvPr>
          <p:cNvSpPr txBox="1"/>
          <p:nvPr/>
        </p:nvSpPr>
        <p:spPr>
          <a:xfrm>
            <a:off x="152400" y="624351"/>
            <a:ext cx="2262946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TW" altLang="en-US" sz="1600" dirty="0">
                <a:solidFill>
                  <a:srgbClr val="FF0000"/>
                </a:solidFill>
              </a:rPr>
              <a:t>標籤列印</a:t>
            </a:r>
            <a:r>
              <a:rPr lang="en-US" altLang="zh-TW" sz="1600" dirty="0">
                <a:solidFill>
                  <a:srgbClr val="FF0000"/>
                </a:solidFill>
              </a:rPr>
              <a:t>(</a:t>
            </a:r>
            <a:r>
              <a:rPr lang="zh-TW" altLang="en-US" sz="1600" dirty="0">
                <a:solidFill>
                  <a:srgbClr val="FF0000"/>
                </a:solidFill>
              </a:rPr>
              <a:t>箱</a:t>
            </a:r>
            <a:r>
              <a:rPr lang="en-US" altLang="zh-TW" sz="1600" dirty="0">
                <a:solidFill>
                  <a:srgbClr val="FF0000"/>
                </a:solidFill>
              </a:rPr>
              <a:t>)</a:t>
            </a:r>
            <a:br>
              <a:rPr lang="en-US" altLang="zh-TW" sz="1600" dirty="0">
                <a:solidFill>
                  <a:srgbClr val="FF0000"/>
                </a:solidFill>
              </a:rPr>
            </a:br>
            <a:endParaRPr lang="en-US" altLang="zh-TW" sz="1600" dirty="0">
              <a:solidFill>
                <a:srgbClr val="FF0000"/>
              </a:solidFill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81D8B334-6FB0-94B3-CFB3-367262CC29FE}"/>
              </a:ext>
            </a:extLst>
          </p:cNvPr>
          <p:cNvSpPr txBox="1"/>
          <p:nvPr/>
        </p:nvSpPr>
        <p:spPr>
          <a:xfrm>
            <a:off x="5935665" y="657007"/>
            <a:ext cx="2262946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TW" altLang="en-US" sz="1600" dirty="0">
                <a:solidFill>
                  <a:srgbClr val="FF0000"/>
                </a:solidFill>
              </a:rPr>
              <a:t>標籤列印</a:t>
            </a:r>
            <a:r>
              <a:rPr lang="en-US" altLang="zh-TW" sz="1600" dirty="0">
                <a:solidFill>
                  <a:srgbClr val="FF0000"/>
                </a:solidFill>
              </a:rPr>
              <a:t>(</a:t>
            </a:r>
            <a:r>
              <a:rPr lang="zh-TW" altLang="en-US" sz="1600" dirty="0">
                <a:solidFill>
                  <a:srgbClr val="FF0000"/>
                </a:solidFill>
              </a:rPr>
              <a:t>成板</a:t>
            </a:r>
            <a:r>
              <a:rPr lang="en-US" altLang="zh-TW" sz="1600" dirty="0">
                <a:solidFill>
                  <a:srgbClr val="FF0000"/>
                </a:solidFill>
              </a:rPr>
              <a:t>)</a:t>
            </a:r>
            <a:br>
              <a:rPr lang="en-US" altLang="zh-TW" sz="1600" dirty="0">
                <a:solidFill>
                  <a:srgbClr val="FF0000"/>
                </a:solidFill>
              </a:rPr>
            </a:br>
            <a:endParaRPr lang="en-US" altLang="zh-TW" sz="1600" dirty="0">
              <a:solidFill>
                <a:srgbClr val="FF0000"/>
              </a:solidFill>
            </a:endParaRP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3059C0CC-5C07-A698-2E69-2930478E534C}"/>
              </a:ext>
            </a:extLst>
          </p:cNvPr>
          <p:cNvSpPr txBox="1"/>
          <p:nvPr/>
        </p:nvSpPr>
        <p:spPr>
          <a:xfrm>
            <a:off x="-446314" y="4191278"/>
            <a:ext cx="4800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04800" indent="304800">
              <a:spcBef>
                <a:spcPts val="600"/>
              </a:spcBef>
              <a:spcAft>
                <a:spcPts val="300"/>
              </a:spcAft>
              <a:buNone/>
            </a:pPr>
            <a:r>
              <a:rPr lang="zh-TW" altLang="zh-TW" sz="1800" dirty="0">
                <a:effectLst/>
                <a:latin typeface="Verdana" panose="020B060403050404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※重量單位採用</a:t>
            </a:r>
            <a:r>
              <a:rPr lang="en-US" altLang="zh-TW" sz="1800" dirty="0">
                <a:effectLst/>
                <a:latin typeface="Verdana" panose="020B060403050404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 kg</a:t>
            </a:r>
            <a:r>
              <a:rPr lang="zh-TW" altLang="zh-TW" sz="1800" dirty="0">
                <a:effectLst/>
                <a:latin typeface="Verdana" panose="020B060403050404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；數量單位採用</a:t>
            </a:r>
            <a:r>
              <a:rPr lang="en-US" altLang="zh-TW" sz="1800" dirty="0">
                <a:effectLst/>
                <a:latin typeface="Verdana" panose="020B060403050404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 pcs</a:t>
            </a:r>
            <a:endParaRPr lang="zh-TW" altLang="zh-TW" sz="1200" dirty="0">
              <a:effectLst/>
              <a:latin typeface="Verdana" panose="020B060403050404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C3D8C326-5BB7-2BE4-E0B5-54DF84CE8AF7}"/>
              </a:ext>
            </a:extLst>
          </p:cNvPr>
          <p:cNvSpPr txBox="1"/>
          <p:nvPr/>
        </p:nvSpPr>
        <p:spPr>
          <a:xfrm>
            <a:off x="5497286" y="4191278"/>
            <a:ext cx="6096000" cy="15465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04800" indent="304800">
              <a:spcBef>
                <a:spcPts val="600"/>
              </a:spcBef>
              <a:spcAft>
                <a:spcPts val="300"/>
              </a:spcAft>
            </a:pPr>
            <a:r>
              <a:rPr lang="zh-TW" altLang="zh-TW" dirty="0">
                <a:latin typeface="Verdana" panose="020B0604030504040204" pitchFamily="34" charset="0"/>
                <a:cs typeface="Times New Roman" panose="02020603050405020304" pitchFamily="18" charset="0"/>
              </a:rPr>
              <a:t>※重量</a:t>
            </a:r>
            <a:r>
              <a:rPr lang="en-US" altLang="zh-TW" dirty="0">
                <a:latin typeface="Verdana" panose="020B0604030504040204" pitchFamily="34" charset="0"/>
                <a:cs typeface="Times New Roman" panose="02020603050405020304" pitchFamily="18" charset="0"/>
              </a:rPr>
              <a:t>/</a:t>
            </a:r>
            <a:r>
              <a:rPr lang="zh-TW" altLang="en-US" dirty="0">
                <a:latin typeface="Verdana" panose="020B0604030504040204" pitchFamily="34" charset="0"/>
                <a:cs typeface="Times New Roman" panose="02020603050405020304" pitchFamily="18" charset="0"/>
              </a:rPr>
              <a:t>數量</a:t>
            </a:r>
            <a:r>
              <a:rPr lang="en-US" altLang="zh-TW" dirty="0">
                <a:latin typeface="Verdana" panose="020B0604030504040204" pitchFamily="34" charset="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Verdana" panose="020B0604030504040204" pitchFamily="34" charset="0"/>
                <a:cs typeface="Times New Roman" panose="02020603050405020304" pitchFamily="18" charset="0"/>
              </a:rPr>
              <a:t> 全部箱數的總重量或總數量</a:t>
            </a:r>
            <a:endParaRPr lang="zh-TW" altLang="zh-TW" sz="1200" dirty="0">
              <a:latin typeface="Verdana" panose="020B0604030504040204" pitchFamily="34" charset="0"/>
              <a:cs typeface="Times New Roman" panose="02020603050405020304" pitchFamily="18" charset="0"/>
            </a:endParaRPr>
          </a:p>
          <a:p>
            <a:pPr marL="304800" indent="304800">
              <a:spcBef>
                <a:spcPts val="600"/>
              </a:spcBef>
              <a:spcAft>
                <a:spcPts val="300"/>
              </a:spcAft>
            </a:pPr>
            <a:r>
              <a:rPr lang="zh-TW" altLang="zh-TW" dirty="0">
                <a:latin typeface="Verdana" panose="020B0604030504040204" pitchFamily="34" charset="0"/>
                <a:cs typeface="Times New Roman" panose="02020603050405020304" pitchFamily="18" charset="0"/>
              </a:rPr>
              <a:t>※重量單位採用</a:t>
            </a:r>
            <a:r>
              <a:rPr lang="en-US" altLang="zh-TW" dirty="0">
                <a:latin typeface="Verdana" panose="020B0604030504040204" pitchFamily="34" charset="0"/>
                <a:cs typeface="Times New Roman" panose="02020603050405020304" pitchFamily="18" charset="0"/>
              </a:rPr>
              <a:t> kg/</a:t>
            </a:r>
            <a:r>
              <a:rPr lang="zh-TW" altLang="en-US" dirty="0">
                <a:latin typeface="Verdana" panose="020B0604030504040204" pitchFamily="34" charset="0"/>
                <a:cs typeface="Times New Roman" panose="02020603050405020304" pitchFamily="18" charset="0"/>
              </a:rPr>
              <a:t>板</a:t>
            </a:r>
            <a:r>
              <a:rPr lang="zh-TW" altLang="zh-TW" dirty="0">
                <a:latin typeface="Verdana" panose="020B0604030504040204" pitchFamily="34" charset="0"/>
                <a:cs typeface="Times New Roman" panose="02020603050405020304" pitchFamily="18" charset="0"/>
              </a:rPr>
              <a:t>；數量單位採用</a:t>
            </a:r>
            <a:r>
              <a:rPr lang="en-US" altLang="zh-TW" dirty="0">
                <a:latin typeface="Verdana" panose="020B0604030504040204" pitchFamily="34" charset="0"/>
                <a:cs typeface="Times New Roman" panose="02020603050405020304" pitchFamily="18" charset="0"/>
              </a:rPr>
              <a:t> pcs/</a:t>
            </a:r>
            <a:r>
              <a:rPr lang="zh-TW" altLang="en-US" dirty="0">
                <a:latin typeface="Verdana" panose="020B0604030504040204" pitchFamily="34" charset="0"/>
                <a:cs typeface="Times New Roman" panose="02020603050405020304" pitchFamily="18" charset="0"/>
              </a:rPr>
              <a:t>板</a:t>
            </a:r>
            <a:endParaRPr lang="en-US" altLang="zh-TW" sz="1800" dirty="0">
              <a:effectLst/>
              <a:latin typeface="Verdana" panose="020B060403050404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04800" indent="304800">
              <a:spcBef>
                <a:spcPts val="600"/>
              </a:spcBef>
              <a:spcAft>
                <a:spcPts val="300"/>
              </a:spcAft>
              <a:buNone/>
            </a:pPr>
            <a:r>
              <a:rPr lang="zh-TW" altLang="zh-TW" sz="1800" dirty="0">
                <a:effectLst/>
                <a:latin typeface="Verdana" panose="020B060403050404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※一個批號對應一個效期</a:t>
            </a:r>
            <a:r>
              <a:rPr lang="zh-TW" altLang="zh-TW" sz="1800" dirty="0">
                <a:effectLst/>
                <a:latin typeface="Poiret One" panose="00000500000000000000" pitchFamily="2" charset="0"/>
                <a:ea typeface="新細明體" panose="02020500000000000000" pitchFamily="18" charset="-120"/>
                <a:cs typeface="Times New Roman" panose="02020603050405020304" pitchFamily="18" charset="0"/>
              </a:rPr>
              <a:t>，</a:t>
            </a:r>
            <a:r>
              <a:rPr lang="zh-TW" altLang="zh-TW" sz="1800" dirty="0">
                <a:effectLst/>
                <a:latin typeface="Verdana" panose="020B060403050404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按照</a:t>
            </a:r>
            <a:r>
              <a:rPr lang="zh-TW" altLang="en-US" dirty="0">
                <a:latin typeface="Verdana" panose="020B060403050404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對應</a:t>
            </a:r>
            <a:r>
              <a:rPr lang="zh-TW" altLang="zh-TW" sz="1800" dirty="0">
                <a:effectLst/>
                <a:latin typeface="Verdana" panose="020B060403050404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的順序顯示</a:t>
            </a:r>
            <a:endParaRPr lang="zh-TW" altLang="zh-TW" sz="1200" dirty="0">
              <a:effectLst/>
              <a:latin typeface="Verdana" panose="020B060403050404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300"/>
              </a:spcAft>
              <a:buNone/>
            </a:pPr>
            <a:r>
              <a:rPr lang="en-US" altLang="zh-TW" sz="1800" b="1" dirty="0">
                <a:effectLst/>
                <a:latin typeface="Verdana" panose="020B060403050404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 </a:t>
            </a:r>
            <a:endParaRPr lang="zh-TW" altLang="zh-TW" sz="1200" dirty="0">
              <a:effectLst/>
              <a:latin typeface="Verdana" panose="020B060403050404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pic>
        <p:nvPicPr>
          <p:cNvPr id="32" name="圖片 31">
            <a:extLst>
              <a:ext uri="{FF2B5EF4-FFF2-40B4-BE49-F238E27FC236}">
                <a16:creationId xmlns:a16="http://schemas.microsoft.com/office/drawing/2014/main" id="{B38E9499-4641-7013-D333-B47823CBE5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399" y="1032624"/>
            <a:ext cx="5529943" cy="3115110"/>
          </a:xfrm>
          <a:prstGeom prst="rect">
            <a:avLst/>
          </a:prstGeom>
        </p:spPr>
      </p:pic>
      <p:pic>
        <p:nvPicPr>
          <p:cNvPr id="34" name="圖片 33">
            <a:extLst>
              <a:ext uri="{FF2B5EF4-FFF2-40B4-BE49-F238E27FC236}">
                <a16:creationId xmlns:a16="http://schemas.microsoft.com/office/drawing/2014/main" id="{83524718-6DA6-12BB-9F3A-EBBE539ACB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2704" y="1032624"/>
            <a:ext cx="6096000" cy="3105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86920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47CDAD-D5AD-39F0-23AD-1DFE5E7F2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>
            <a:extLst>
              <a:ext uri="{FF2B5EF4-FFF2-40B4-BE49-F238E27FC236}">
                <a16:creationId xmlns:a16="http://schemas.microsoft.com/office/drawing/2014/main" id="{A7C414C5-F0B2-C0AD-E403-7CCFC91388CE}"/>
              </a:ext>
            </a:extLst>
          </p:cNvPr>
          <p:cNvSpPr txBox="1"/>
          <p:nvPr/>
        </p:nvSpPr>
        <p:spPr>
          <a:xfrm>
            <a:off x="113280" y="32658"/>
            <a:ext cx="2262946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TW" sz="1600" dirty="0">
                <a:solidFill>
                  <a:srgbClr val="FF0000"/>
                </a:solidFill>
              </a:rPr>
              <a:t>QR Code</a:t>
            </a:r>
            <a:r>
              <a:rPr lang="zh-TW" altLang="en-US" sz="1600" dirty="0">
                <a:solidFill>
                  <a:srgbClr val="FF0000"/>
                </a:solidFill>
              </a:rPr>
              <a:t>掃描</a:t>
            </a:r>
            <a:r>
              <a:rPr lang="en-US" altLang="zh-TW" sz="1600" dirty="0">
                <a:solidFill>
                  <a:srgbClr val="FF0000"/>
                </a:solidFill>
              </a:rPr>
              <a:t>(</a:t>
            </a:r>
            <a:r>
              <a:rPr lang="zh-TW" altLang="en-US" sz="1600" dirty="0">
                <a:solidFill>
                  <a:srgbClr val="FF0000"/>
                </a:solidFill>
              </a:rPr>
              <a:t>箱</a:t>
            </a:r>
            <a:r>
              <a:rPr lang="en-US" altLang="zh-TW" sz="1600" dirty="0">
                <a:solidFill>
                  <a:srgbClr val="FF0000"/>
                </a:solidFill>
              </a:rPr>
              <a:t>)</a:t>
            </a:r>
            <a:br>
              <a:rPr lang="en-US" altLang="zh-TW" sz="1600" dirty="0">
                <a:solidFill>
                  <a:srgbClr val="FF0000"/>
                </a:solidFill>
              </a:rPr>
            </a:br>
            <a:endParaRPr lang="en-US" altLang="zh-TW" sz="1600" dirty="0">
              <a:solidFill>
                <a:srgbClr val="FF0000"/>
              </a:solidFill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B5B551C7-399E-104E-A44A-1527685F97A6}"/>
              </a:ext>
            </a:extLst>
          </p:cNvPr>
          <p:cNvSpPr txBox="1"/>
          <p:nvPr/>
        </p:nvSpPr>
        <p:spPr>
          <a:xfrm>
            <a:off x="5775966" y="0"/>
            <a:ext cx="2143496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TW" sz="1600" dirty="0">
                <a:solidFill>
                  <a:srgbClr val="FF0000"/>
                </a:solidFill>
              </a:rPr>
              <a:t>QR Code</a:t>
            </a:r>
            <a:r>
              <a:rPr lang="zh-TW" altLang="en-US" sz="1600" dirty="0">
                <a:solidFill>
                  <a:srgbClr val="FF0000"/>
                </a:solidFill>
              </a:rPr>
              <a:t>掃描</a:t>
            </a:r>
            <a:r>
              <a:rPr lang="en-US" altLang="zh-TW" sz="1600" dirty="0">
                <a:solidFill>
                  <a:srgbClr val="FF0000"/>
                </a:solidFill>
              </a:rPr>
              <a:t>(</a:t>
            </a:r>
            <a:r>
              <a:rPr lang="zh-TW" altLang="en-US" sz="1600" dirty="0">
                <a:solidFill>
                  <a:srgbClr val="FF0000"/>
                </a:solidFill>
              </a:rPr>
              <a:t>成板</a:t>
            </a:r>
            <a:r>
              <a:rPr lang="en-US" altLang="zh-TW" sz="1600" dirty="0">
                <a:solidFill>
                  <a:srgbClr val="FF0000"/>
                </a:solidFill>
              </a:rPr>
              <a:t>)</a:t>
            </a:r>
            <a:br>
              <a:rPr lang="en-US" altLang="zh-TW" sz="1600" dirty="0">
                <a:solidFill>
                  <a:srgbClr val="FF0000"/>
                </a:solidFill>
              </a:rPr>
            </a:br>
            <a:endParaRPr lang="en-US" altLang="zh-TW" sz="1600" dirty="0">
              <a:solidFill>
                <a:srgbClr val="FF0000"/>
              </a:solidFill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E58F6157-71A0-AE96-E540-C08453DD7D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5966" y="292387"/>
            <a:ext cx="4507687" cy="6565613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2245E42D-27CE-5A46-C397-9ACE3EE108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280" y="325045"/>
            <a:ext cx="4906060" cy="4048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67201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E66A96-4538-2ADA-35F3-CFB9F4C59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>
            <a:extLst>
              <a:ext uri="{FF2B5EF4-FFF2-40B4-BE49-F238E27FC236}">
                <a16:creationId xmlns:a16="http://schemas.microsoft.com/office/drawing/2014/main" id="{DD963B85-D14B-8334-2755-1DD917CD3F70}"/>
              </a:ext>
            </a:extLst>
          </p:cNvPr>
          <p:cNvSpPr txBox="1"/>
          <p:nvPr/>
        </p:nvSpPr>
        <p:spPr>
          <a:xfrm>
            <a:off x="153473" y="354205"/>
            <a:ext cx="2262946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TW" altLang="en-US" sz="1600" dirty="0">
                <a:solidFill>
                  <a:srgbClr val="FF0000"/>
                </a:solidFill>
              </a:rPr>
              <a:t>標籤貼紙規格</a:t>
            </a:r>
            <a:br>
              <a:rPr lang="en-US" altLang="zh-TW" sz="1600" dirty="0">
                <a:solidFill>
                  <a:srgbClr val="FF0000"/>
                </a:solidFill>
              </a:rPr>
            </a:br>
            <a:endParaRPr lang="en-US" altLang="zh-TW" sz="1600" dirty="0">
              <a:solidFill>
                <a:srgbClr val="FF0000"/>
              </a:solidFill>
            </a:endParaRP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16B33CF3-A559-00F4-DFAC-B6BFF1BC75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700" y="1310769"/>
            <a:ext cx="5050006" cy="3059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9328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2255</TotalTime>
  <Words>671</Words>
  <Application>Microsoft Office PowerPoint</Application>
  <PresentationFormat>寬螢幕</PresentationFormat>
  <Paragraphs>91</Paragraphs>
  <Slides>14</Slides>
  <Notes>14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14</vt:i4>
      </vt:variant>
    </vt:vector>
  </HeadingPairs>
  <TitlesOfParts>
    <vt:vector size="22" baseType="lpstr">
      <vt:lpstr>PMingLiU</vt:lpstr>
      <vt:lpstr>PMingLiU</vt:lpstr>
      <vt:lpstr>Aptos</vt:lpstr>
      <vt:lpstr>Aptos Display</vt:lpstr>
      <vt:lpstr>Arial</vt:lpstr>
      <vt:lpstr>Poiret One</vt:lpstr>
      <vt:lpstr>Verdana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Ann Chen</dc:creator>
  <cp:lastModifiedBy>Ann Chen</cp:lastModifiedBy>
  <cp:revision>94</cp:revision>
  <dcterms:created xsi:type="dcterms:W3CDTF">2025-04-21T04:11:03Z</dcterms:created>
  <dcterms:modified xsi:type="dcterms:W3CDTF">2025-09-17T10:47:07Z</dcterms:modified>
</cp:coreProperties>
</file>